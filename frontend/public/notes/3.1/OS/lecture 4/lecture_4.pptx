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sldIdLst>
    <p:sldId id="256" r:id="rId2"/>
    <p:sldId id="259" r:id="rId3"/>
    <p:sldId id="264" r:id="rId4"/>
    <p:sldId id="266" r:id="rId5"/>
    <p:sldId id="267" r:id="rId6"/>
    <p:sldId id="268" r:id="rId7"/>
    <p:sldId id="271" r:id="rId8"/>
    <p:sldId id="276" r:id="rId9"/>
    <p:sldId id="277" r:id="rId10"/>
    <p:sldId id="274" r:id="rId11"/>
    <p:sldId id="275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EEBBB-3EB0-4C21-A2DD-9B7EB8D92F8A}" v="3" dt="2026-02-10T08:58:19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1" autoAdjust="0"/>
    <p:restoredTop sz="94660"/>
  </p:normalViewPr>
  <p:slideViewPr>
    <p:cSldViewPr snapToGrid="0">
      <p:cViewPr varScale="1">
        <p:scale>
          <a:sx n="83" d="100"/>
          <a:sy n="83" d="100"/>
        </p:scale>
        <p:origin x="552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neen  Akhter" userId="773059a0-2524-48f3-b8a1-3d5bde9e3a77" providerId="ADAL" clId="{A050110D-04F1-48E0-9091-2D5AF5E650BE}"/>
    <pc:docChg chg="undo custSel addSld delSld modSld">
      <pc:chgData name="Nazneen  Akhter" userId="773059a0-2524-48f3-b8a1-3d5bde9e3a77" providerId="ADAL" clId="{A050110D-04F1-48E0-9091-2D5AF5E650BE}" dt="2026-02-10T09:11:31.184" v="35" actId="47"/>
      <pc:docMkLst>
        <pc:docMk/>
      </pc:docMkLst>
      <pc:sldChg chg="addSp new del">
        <pc:chgData name="Nazneen  Akhter" userId="773059a0-2524-48f3-b8a1-3d5bde9e3a77" providerId="ADAL" clId="{A050110D-04F1-48E0-9091-2D5AF5E650BE}" dt="2026-02-10T09:01:07.164" v="31" actId="47"/>
        <pc:sldMkLst>
          <pc:docMk/>
          <pc:sldMk cId="1016910075" sldId="278"/>
        </pc:sldMkLst>
        <pc:inkChg chg="add">
          <ac:chgData name="Nazneen  Akhter" userId="773059a0-2524-48f3-b8a1-3d5bde9e3a77" providerId="ADAL" clId="{A050110D-04F1-48E0-9091-2D5AF5E650BE}" dt="2026-02-10T08:46:58.563" v="28"/>
          <ac:inkMkLst>
            <pc:docMk/>
            <pc:sldMk cId="1016910075" sldId="278"/>
            <ac:inkMk id="4" creationId="{F3329C01-442A-99F5-3383-6DD53A3ED994}"/>
          </ac:inkMkLst>
        </pc:inkChg>
        <pc:inkChg chg="add">
          <ac:chgData name="Nazneen  Akhter" userId="773059a0-2524-48f3-b8a1-3d5bde9e3a77" providerId="ADAL" clId="{A050110D-04F1-48E0-9091-2D5AF5E650BE}" dt="2026-02-10T08:51:35.896" v="29"/>
          <ac:inkMkLst>
            <pc:docMk/>
            <pc:sldMk cId="1016910075" sldId="278"/>
            <ac:inkMk id="5" creationId="{B7D81B64-7B68-A305-E98E-D693823ED969}"/>
          </ac:inkMkLst>
        </pc:inkChg>
        <pc:inkChg chg="add">
          <ac:chgData name="Nazneen  Akhter" userId="773059a0-2524-48f3-b8a1-3d5bde9e3a77" providerId="ADAL" clId="{A050110D-04F1-48E0-9091-2D5AF5E650BE}" dt="2026-02-10T08:58:19.258" v="30"/>
          <ac:inkMkLst>
            <pc:docMk/>
            <pc:sldMk cId="1016910075" sldId="278"/>
            <ac:inkMk id="6" creationId="{B273549B-69E9-FA71-19C8-262C0B292437}"/>
          </ac:inkMkLst>
        </pc:inkChg>
      </pc:sldChg>
      <pc:sldChg chg="new del">
        <pc:chgData name="Nazneen  Akhter" userId="773059a0-2524-48f3-b8a1-3d5bde9e3a77" providerId="ADAL" clId="{A050110D-04F1-48E0-9091-2D5AF5E650BE}" dt="2026-02-10T09:01:18.349" v="34" actId="47"/>
        <pc:sldMkLst>
          <pc:docMk/>
          <pc:sldMk cId="2057613950" sldId="278"/>
        </pc:sldMkLst>
      </pc:sldChg>
      <pc:sldChg chg="new del">
        <pc:chgData name="Nazneen  Akhter" userId="773059a0-2524-48f3-b8a1-3d5bde9e3a77" providerId="ADAL" clId="{A050110D-04F1-48E0-9091-2D5AF5E650BE}" dt="2026-02-10T09:11:31.184" v="35" actId="47"/>
        <pc:sldMkLst>
          <pc:docMk/>
          <pc:sldMk cId="3658527420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electronicsengineering.nbcafe.in/wp-content/uploads/2018/03/DMA-Controller.png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6818" y="2241340"/>
            <a:ext cx="7300823" cy="1069906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/>
                <a:cs typeface="Times New Roman"/>
              </a:rPr>
              <a:t>Operating System </a:t>
            </a:r>
          </a:p>
        </p:txBody>
      </p:sp>
      <p:pic>
        <p:nvPicPr>
          <p:cNvPr id="4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9541EF6-7075-4697-AC66-2B3C2CC3F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1168" y="2543908"/>
            <a:ext cx="1578353" cy="1981200"/>
          </a:xfrm>
          <a:prstGeom prst="rect">
            <a:avLst/>
          </a:prstGeom>
        </p:spPr>
      </p:pic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673590" y="4259939"/>
            <a:ext cx="5193323" cy="91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Nazneen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Akhter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ea typeface="+mn-lt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Assistant Professor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ea typeface="+mn-lt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Dept. of ICT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ea typeface="+mn-lt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Science and Technology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ea typeface="+mn-lt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Bangladesh University of Professionals (BUP) 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ea typeface="+mn-lt"/>
              <a:cs typeface="Times New Roman" pitchFamily="18" charset="0"/>
            </a:endParaRPr>
          </a:p>
          <a:p>
            <a:pPr marL="285750" indent="-228600">
              <a:lnSpc>
                <a:spcPct val="100000"/>
              </a:lnSpc>
              <a:spcBef>
                <a:spcPts val="1000"/>
              </a:spcBef>
              <a:buFont typeface="Arial,Sans-Serif"/>
              <a:buChar char="•"/>
            </a:pPr>
            <a:endParaRPr lang="en-US" sz="1800" dirty="0">
              <a:solidFill>
                <a:schemeClr val="tx1"/>
              </a:solidFill>
              <a:latin typeface="Times New Roman" pitchFamily="18" charset="0"/>
              <a:ea typeface="+mn-lt"/>
              <a:cs typeface="Times New Roman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What is an Operating System?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476" y="2129674"/>
            <a:ext cx="4888523" cy="2032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931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11216" y="1086976"/>
            <a:ext cx="8983489" cy="10009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/>
                <a:ea typeface="+mj-lt"/>
                <a:cs typeface="+mj-lt"/>
              </a:rPr>
              <a:t>Storage Structure</a:t>
            </a:r>
            <a:endParaRPr lang="en-US" sz="32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9F03110D-79E8-4E32-BAC4-8A341877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943" y="2477936"/>
            <a:ext cx="10765766" cy="419249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Main memory 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– only large storage media that the CPU can access directly</a:t>
            </a: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Random access</a:t>
            </a: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Typically volatile</a:t>
            </a: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Secondary storage 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– extension of main memory that provides large nonvolatile storage capacity</a:t>
            </a: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Hard disks 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– rigid metal or glass platters covered with magnetic recording material </a:t>
            </a: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Disk surface is logically divided into tracks, which are subdivided into sectors</a:t>
            </a: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/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/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33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1B3EA3E-30AB-468F-A770-86A72631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7101" y="1017558"/>
            <a:ext cx="1170857" cy="107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9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98585" y="1086976"/>
            <a:ext cx="8983489" cy="10009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/>
                <a:ea typeface="+mj-lt"/>
                <a:cs typeface="+mj-lt"/>
              </a:rPr>
              <a:t>Storage Structure (Cont.)</a:t>
            </a:r>
            <a:endParaRPr lang="en-US" sz="32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9F03110D-79E8-4E32-BAC4-8A341877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916" y="3127128"/>
            <a:ext cx="10731097" cy="325022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ea typeface="+mn-lt"/>
                <a:cs typeface="Times New Roman" pitchFamily="18" charset="0"/>
              </a:rPr>
              <a:t>Solid-state disks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ea typeface="+mn-lt"/>
                <a:cs typeface="Times New Roman" pitchFamily="18" charset="0"/>
              </a:rPr>
              <a:t>– faster than hard disks, nonvolatile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ea typeface="+mn-lt"/>
                <a:cs typeface="Times New Roman" pitchFamily="18" charset="0"/>
              </a:rPr>
              <a:t>Various technologies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ea typeface="+mn-lt"/>
                <a:cs typeface="Times New Roman" pitchFamily="18" charset="0"/>
              </a:rPr>
              <a:t>Becoming more popular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Caching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copying information into faster storage system; main memory can be viewed as a cache for secondary storage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Device Driver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each device controller to manage I/O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Provides uniform interface between controller and kernel</a:t>
            </a:r>
          </a:p>
          <a:p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3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1B3EA3E-30AB-468F-A770-86A72631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7101" y="1017558"/>
            <a:ext cx="1170857" cy="107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31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98585" y="1086976"/>
            <a:ext cx="8983489" cy="10009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Storage-Device Hierarchy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9F03110D-79E8-4E32-BAC4-8A341877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019" y="2768213"/>
            <a:ext cx="5332695" cy="308000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Storage systems organized in hierarchy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Speed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Cost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Volatility</a:t>
            </a:r>
          </a:p>
          <a:p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3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1B3EA3E-30AB-468F-A770-86A72631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7101" y="1017558"/>
            <a:ext cx="1170857" cy="1070396"/>
          </a:xfrm>
          <a:prstGeom prst="rect">
            <a:avLst/>
          </a:prstGeom>
        </p:spPr>
      </p:pic>
      <p:pic>
        <p:nvPicPr>
          <p:cNvPr id="11" name="Picture 3" descr="C:\Users\as668\Desktop\1_0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025" y="2410085"/>
            <a:ext cx="5099537" cy="4120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5101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98585" y="1086976"/>
            <a:ext cx="8983489" cy="10009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Caching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33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1B3EA3E-30AB-468F-A770-86A72631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7101" y="1017558"/>
            <a:ext cx="1170857" cy="1070396"/>
          </a:xfrm>
          <a:prstGeom prst="rect">
            <a:avLst/>
          </a:prstGeom>
        </p:spPr>
      </p:pic>
      <p:sp>
        <p:nvSpPr>
          <p:cNvPr id="12" name="Rectangle 3"/>
          <p:cNvSpPr>
            <a:spLocks noGrp="1" noChangeArrowheads="1"/>
          </p:cNvSpPr>
          <p:nvPr>
            <p:ph idx="1"/>
          </p:nvPr>
        </p:nvSpPr>
        <p:spPr>
          <a:xfrm>
            <a:off x="1170464" y="2768340"/>
            <a:ext cx="9869627" cy="307975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Information in use copied from slower to faster storage temporarily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Faster storage (cache) checked first to determine if information is there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it is, information used directly from the cache (fast)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not, data copied to cache and used there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Cache smaller than storage being cached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Cache management important design problem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Cache size and replacement policy</a:t>
            </a:r>
          </a:p>
          <a:p>
            <a:pPr>
              <a:buFont typeface="Monotype Sorts" pitchFamily="-84" charset="2"/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 descr="Cache Memory – AHIRLAB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3785" y="4308214"/>
            <a:ext cx="4478215" cy="1635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06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98585" y="1086976"/>
            <a:ext cx="8983489" cy="10009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Direct Memory Access (DMA)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33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1B3EA3E-30AB-468F-A770-86A72631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7101" y="1017558"/>
            <a:ext cx="1170857" cy="107039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06770" y="2696087"/>
            <a:ext cx="1045698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is a sub controller that can access memory in sequential order without intervention from the processor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is used to moving around large amounts of data in the computer without taking time away from the processor.</a:t>
            </a:r>
          </a:p>
        </p:txBody>
      </p:sp>
    </p:spTree>
    <p:extLst>
      <p:ext uri="{BB962C8B-B14F-4D97-AF65-F5344CB8AC3E}">
        <p14:creationId xmlns:p14="http://schemas.microsoft.com/office/powerpoint/2010/main" val="2065531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98585" y="1086976"/>
            <a:ext cx="8983489" cy="10009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Direct Memory Access (DMA) Structure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33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1B3EA3E-30AB-468F-A770-86A72631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7101" y="1017558"/>
            <a:ext cx="1170857" cy="1070396"/>
          </a:xfrm>
          <a:prstGeom prst="rect">
            <a:avLst/>
          </a:prstGeom>
        </p:spPr>
      </p:pic>
      <p:pic>
        <p:nvPicPr>
          <p:cNvPr id="11" name="Picture 5" descr="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082" y="2526526"/>
            <a:ext cx="5132387" cy="408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3196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rect memory access data transfer">
            <a:hlinkClick r:id="rId2"/>
            <a:extLst>
              <a:ext uri="{FF2B5EF4-FFF2-40B4-BE49-F238E27FC236}">
                <a16:creationId xmlns:a16="http://schemas.microsoft.com/office/drawing/2014/main" id="{5890308E-1A5D-AB34-216C-19A5F05CD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94678" y="643467"/>
            <a:ext cx="9402643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809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C86B6D-88F4-24C4-759F-3051CEB1F111}"/>
              </a:ext>
            </a:extLst>
          </p:cNvPr>
          <p:cNvSpPr txBox="1"/>
          <p:nvPr/>
        </p:nvSpPr>
        <p:spPr>
          <a:xfrm>
            <a:off x="295563" y="1317210"/>
            <a:ext cx="1137920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orking principal of DMA controller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DMA controller is used with the microprocessor. Which helps to generate the addresses for the data to be transferred from the I/O devices.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 step,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peripheral device sends the request signal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DMARQ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to the DMA controller.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Second step,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DMA controller in turn passes it to the microprocessor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HOLD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signal).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Third step,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on receipt of the DMA request, the microprocessor sends an acknowledge signal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HLDA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to the DMA controller.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Fourth step,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on receipt of this signal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HLDA),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DMA controller sends a DMA acknowledge signal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DMACK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to the I/O device.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Fifth step,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DMA controller then takes over the control of the buses of microprocessor. And it take controls the data transfer between RAM and I/O device.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Sixth and Final Step,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when the data transfer is completed, DMA controller returns the control over the buses to the microprocessor by disabling the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HOLD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DMACK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signals.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627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17964" y="2080004"/>
            <a:ext cx="1269953" cy="10923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DMA controller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5567" y="2080003"/>
            <a:ext cx="1269953" cy="269214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Bus control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798289" y="1740840"/>
            <a:ext cx="1269953" cy="10923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699546" y="4075768"/>
            <a:ext cx="1269953" cy="10923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Storage</a:t>
            </a:r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>
          <a:xfrm>
            <a:off x="4187917" y="2462331"/>
            <a:ext cx="657650" cy="0"/>
          </a:xfrm>
          <a:prstGeom prst="line">
            <a:avLst/>
          </a:prstGeom>
          <a:ln w="76200" cmpd="sng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cxnSpLocks/>
          </p:cNvCxnSpPr>
          <p:nvPr/>
        </p:nvCxnSpPr>
        <p:spPr>
          <a:xfrm>
            <a:off x="4187917" y="2833204"/>
            <a:ext cx="657650" cy="0"/>
          </a:xfrm>
          <a:prstGeom prst="line">
            <a:avLst/>
          </a:prstGeom>
          <a:ln w="76200" cmpd="sng">
            <a:solidFill>
              <a:schemeClr val="bg2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cxnSpLocks/>
          </p:cNvCxnSpPr>
          <p:nvPr/>
        </p:nvCxnSpPr>
        <p:spPr>
          <a:xfrm>
            <a:off x="4187917" y="4075768"/>
            <a:ext cx="657650" cy="0"/>
          </a:xfrm>
          <a:prstGeom prst="line">
            <a:avLst/>
          </a:prstGeom>
          <a:ln w="76200" cmpd="sng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cxnSpLocks/>
          </p:cNvCxnSpPr>
          <p:nvPr/>
        </p:nvCxnSpPr>
        <p:spPr>
          <a:xfrm>
            <a:off x="4187917" y="4446641"/>
            <a:ext cx="657650" cy="0"/>
          </a:xfrm>
          <a:prstGeom prst="line">
            <a:avLst/>
          </a:prstGeom>
          <a:ln w="76200" cmpd="sng">
            <a:solidFill>
              <a:schemeClr val="bg2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140639" y="3463513"/>
            <a:ext cx="3062738" cy="0"/>
          </a:xfrm>
          <a:prstGeom prst="line">
            <a:avLst/>
          </a:prstGeom>
          <a:ln w="76200" cmpd="sng">
            <a:solidFill>
              <a:schemeClr val="bg2">
                <a:lumMod val="75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cxnSpLocks/>
          </p:cNvCxnSpPr>
          <p:nvPr/>
        </p:nvCxnSpPr>
        <p:spPr>
          <a:xfrm>
            <a:off x="7221608" y="2833204"/>
            <a:ext cx="0" cy="630309"/>
          </a:xfrm>
          <a:prstGeom prst="line">
            <a:avLst/>
          </a:prstGeom>
          <a:ln w="76200" cmpd="sng">
            <a:solidFill>
              <a:schemeClr val="bg2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7603958" y="2833204"/>
            <a:ext cx="0" cy="630309"/>
          </a:xfrm>
          <a:prstGeom prst="line">
            <a:avLst/>
          </a:prstGeom>
          <a:ln w="76200" cmpd="sng">
            <a:solidFill>
              <a:schemeClr val="bg2">
                <a:lumMod val="7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8138710" y="3445459"/>
            <a:ext cx="0" cy="630309"/>
          </a:xfrm>
          <a:prstGeom prst="line">
            <a:avLst/>
          </a:prstGeom>
          <a:ln w="76200" cmpd="sng">
            <a:solidFill>
              <a:schemeClr val="bg2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cxnSpLocks/>
          </p:cNvCxnSpPr>
          <p:nvPr/>
        </p:nvCxnSpPr>
        <p:spPr>
          <a:xfrm>
            <a:off x="8521060" y="3445459"/>
            <a:ext cx="0" cy="630309"/>
          </a:xfrm>
          <a:prstGeom prst="line">
            <a:avLst/>
          </a:prstGeom>
          <a:ln w="76200" cmpd="sng">
            <a:solidFill>
              <a:schemeClr val="bg2">
                <a:lumMod val="7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2" idx="0"/>
            <a:endCxn id="4" idx="0"/>
          </p:cNvCxnSpPr>
          <p:nvPr/>
        </p:nvCxnSpPr>
        <p:spPr>
          <a:xfrm rot="5400000" flipH="1" flipV="1">
            <a:off x="5323521" y="-29740"/>
            <a:ext cx="339164" cy="3880325"/>
          </a:xfrm>
          <a:prstGeom prst="curvedConnector3">
            <a:avLst>
              <a:gd name="adj1" fmla="val 167401"/>
            </a:avLst>
          </a:prstGeom>
          <a:ln w="254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46"/>
          <p:cNvSpPr txBox="1"/>
          <p:nvPr/>
        </p:nvSpPr>
        <p:spPr>
          <a:xfrm>
            <a:off x="2972447" y="1078003"/>
            <a:ext cx="4922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2. DMA controller requests transfer to memory</a:t>
            </a:r>
          </a:p>
        </p:txBody>
      </p:sp>
      <p:sp>
        <p:nvSpPr>
          <p:cNvPr id="20" name="TextBox 51"/>
          <p:cNvSpPr txBox="1"/>
          <p:nvPr/>
        </p:nvSpPr>
        <p:spPr>
          <a:xfrm>
            <a:off x="2280278" y="4856668"/>
            <a:ext cx="25652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1. CPU sets up a memory transaction on the DMA controller</a:t>
            </a:r>
          </a:p>
        </p:txBody>
      </p:sp>
      <p:sp>
        <p:nvSpPr>
          <p:cNvPr id="21" name="TextBox 55"/>
          <p:cNvSpPr txBox="1"/>
          <p:nvPr/>
        </p:nvSpPr>
        <p:spPr>
          <a:xfrm>
            <a:off x="6046597" y="2288067"/>
            <a:ext cx="896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4. ACK</a:t>
            </a:r>
          </a:p>
        </p:txBody>
      </p:sp>
      <p:sp>
        <p:nvSpPr>
          <p:cNvPr id="22" name="TextBox 59"/>
          <p:cNvSpPr txBox="1"/>
          <p:nvPr/>
        </p:nvSpPr>
        <p:spPr>
          <a:xfrm>
            <a:off x="3349898" y="3122293"/>
            <a:ext cx="1676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5. Interrupt when done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17963" y="3679786"/>
            <a:ext cx="1269953" cy="10923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Processor</a:t>
            </a:r>
          </a:p>
        </p:txBody>
      </p:sp>
      <p:cxnSp>
        <p:nvCxnSpPr>
          <p:cNvPr id="24" name="Curved Connector 23"/>
          <p:cNvCxnSpPr/>
          <p:nvPr/>
        </p:nvCxnSpPr>
        <p:spPr>
          <a:xfrm rot="10800000">
            <a:off x="2905263" y="2462331"/>
            <a:ext cx="12700" cy="1599783"/>
          </a:xfrm>
          <a:prstGeom prst="curvedConnector3">
            <a:avLst>
              <a:gd name="adj1" fmla="val 3905260"/>
            </a:avLst>
          </a:prstGeom>
          <a:ln w="254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41"/>
          <p:cNvSpPr txBox="1"/>
          <p:nvPr/>
        </p:nvSpPr>
        <p:spPr>
          <a:xfrm>
            <a:off x="6943257" y="5410666"/>
            <a:ext cx="2392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3. Data is transferred</a:t>
            </a:r>
          </a:p>
        </p:txBody>
      </p:sp>
      <p:cxnSp>
        <p:nvCxnSpPr>
          <p:cNvPr id="53" name="Curved Connector 52"/>
          <p:cNvCxnSpPr>
            <a:cxnSpLocks/>
          </p:cNvCxnSpPr>
          <p:nvPr/>
        </p:nvCxnSpPr>
        <p:spPr>
          <a:xfrm rot="10800000" flipV="1">
            <a:off x="4187916" y="1947858"/>
            <a:ext cx="2528483" cy="339164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urved Connector 53"/>
          <p:cNvCxnSpPr/>
          <p:nvPr/>
        </p:nvCxnSpPr>
        <p:spPr>
          <a:xfrm rot="16200000" flipH="1">
            <a:off x="7398962" y="2766604"/>
            <a:ext cx="1982110" cy="643549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3802966" y="361002"/>
            <a:ext cx="38965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rgbClr val="333399"/>
                </a:solidFill>
                <a:latin typeface="Times New Roman" pitchFamily="18" charset="0"/>
                <a:cs typeface="Times New Roman" pitchFamily="18" charset="0"/>
              </a:rPr>
              <a:t>Use of DMA Controllers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411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perating System - Direct Memory Access Long Questions Answers - EXAMRADAR">
            <a:extLst>
              <a:ext uri="{FF2B5EF4-FFF2-40B4-BE49-F238E27FC236}">
                <a16:creationId xmlns:a16="http://schemas.microsoft.com/office/drawing/2014/main" id="{3994AF37-0940-CA46-5C76-3E8AE203D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554182"/>
            <a:ext cx="11068242" cy="5745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5611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113248957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493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Arial,Sans-Serif</vt:lpstr>
      <vt:lpstr>Corbel</vt:lpstr>
      <vt:lpstr>Monotype Sorts</vt:lpstr>
      <vt:lpstr>Times New Roman</vt:lpstr>
      <vt:lpstr>Wingdings</vt:lpstr>
      <vt:lpstr>Wingdings 2</vt:lpstr>
      <vt:lpstr>Frame</vt:lpstr>
      <vt:lpstr>Operating System </vt:lpstr>
      <vt:lpstr>Storage Structure</vt:lpstr>
      <vt:lpstr>Storage Structure (Cont.)</vt:lpstr>
      <vt:lpstr>Storage-Device Hierarchy</vt:lpstr>
      <vt:lpstr>Caching</vt:lpstr>
      <vt:lpstr>Direct Memory Access (DMA)</vt:lpstr>
      <vt:lpstr>Direct Memory Access (DMA) Structure</vt:lpstr>
      <vt:lpstr>PowerPoint Presentation</vt:lpstr>
      <vt:lpstr>PowerPoint Presentation</vt:lpstr>
      <vt:lpstr>PowerPoint Presentation</vt:lpstr>
      <vt:lpstr>PowerPoint Presentation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-</dc:creator>
  <cp:lastModifiedBy>Nazneen  Akhter</cp:lastModifiedBy>
  <cp:revision>73</cp:revision>
  <dcterms:created xsi:type="dcterms:W3CDTF">2019-10-16T03:03:10Z</dcterms:created>
  <dcterms:modified xsi:type="dcterms:W3CDTF">2026-02-10T09:11:41Z</dcterms:modified>
</cp:coreProperties>
</file>