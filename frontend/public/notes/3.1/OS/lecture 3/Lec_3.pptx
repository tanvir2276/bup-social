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7" r:id="rId1"/>
  </p:sldMasterIdLst>
  <p:sldIdLst>
    <p:sldId id="256" r:id="rId2"/>
    <p:sldId id="257" r:id="rId3"/>
    <p:sldId id="258" r:id="rId4"/>
    <p:sldId id="266" r:id="rId5"/>
    <p:sldId id="267" r:id="rId6"/>
    <p:sldId id="259" r:id="rId7"/>
    <p:sldId id="260" r:id="rId8"/>
    <p:sldId id="262" r:id="rId9"/>
    <p:sldId id="263" r:id="rId10"/>
    <p:sldId id="264" r:id="rId11"/>
    <p:sldId id="265" r:id="rId12"/>
    <p:sldId id="261" r:id="rId13"/>
    <p:sldId id="268" r:id="rId14"/>
    <p:sldId id="269" r:id="rId15"/>
    <p:sldId id="270" r:id="rId16"/>
    <p:sldId id="271" r:id="rId17"/>
    <p:sldId id="272" r:id="rId18"/>
    <p:sldId id="273" r:id="rId19"/>
    <p:sldId id="28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zneen  Akhter" userId="773059a0-2524-48f3-b8a1-3d5bde9e3a77" providerId="ADAL" clId="{A5C35EEA-C1CC-4419-93EA-E5DB56844AFE}"/>
    <pc:docChg chg="modSld">
      <pc:chgData name="Nazneen  Akhter" userId="773059a0-2524-48f3-b8a1-3d5bde9e3a77" providerId="ADAL" clId="{A5C35EEA-C1CC-4419-93EA-E5DB56844AFE}" dt="2025-09-01T08:22:36.019" v="31" actId="20577"/>
      <pc:docMkLst>
        <pc:docMk/>
      </pc:docMkLst>
      <pc:sldChg chg="modSp mod">
        <pc:chgData name="Nazneen  Akhter" userId="773059a0-2524-48f3-b8a1-3d5bde9e3a77" providerId="ADAL" clId="{A5C35EEA-C1CC-4419-93EA-E5DB56844AFE}" dt="2025-09-01T08:22:36.019" v="31" actId="20577"/>
        <pc:sldMkLst>
          <pc:docMk/>
          <pc:sldMk cId="2022889900" sldId="256"/>
        </pc:sldMkLst>
        <pc:spChg chg="mod">
          <ac:chgData name="Nazneen  Akhter" userId="773059a0-2524-48f3-b8a1-3d5bde9e3a77" providerId="ADAL" clId="{A5C35EEA-C1CC-4419-93EA-E5DB56844AFE}" dt="2025-09-01T08:22:36.019" v="31" actId="20577"/>
          <ac:spMkLst>
            <pc:docMk/>
            <pc:sldMk cId="2022889900" sldId="256"/>
            <ac:spMk id="3" creationId="{6F4CD856-47F7-4C8A-BA1E-9E0698863EA7}"/>
          </ac:spMkLst>
        </pc:spChg>
      </pc:sldChg>
    </pc:docChg>
  </pc:docChgLst>
  <pc:docChgLst>
    <pc:chgData name="Nazneen  Akhter" userId="773059a0-2524-48f3-b8a1-3d5bde9e3a77" providerId="ADAL" clId="{99260B15-426A-4EC8-9A62-D45A2EBEE25D}"/>
    <pc:docChg chg="modSld">
      <pc:chgData name="Nazneen  Akhter" userId="773059a0-2524-48f3-b8a1-3d5bde9e3a77" providerId="ADAL" clId="{99260B15-426A-4EC8-9A62-D45A2EBEE25D}" dt="2024-08-20T12:23:38.118" v="6" actId="1036"/>
      <pc:docMkLst>
        <pc:docMk/>
      </pc:docMkLst>
      <pc:sldChg chg="modSp mod">
        <pc:chgData name="Nazneen  Akhter" userId="773059a0-2524-48f3-b8a1-3d5bde9e3a77" providerId="ADAL" clId="{99260B15-426A-4EC8-9A62-D45A2EBEE25D}" dt="2024-08-20T12:21:53.211" v="5" actId="20577"/>
        <pc:sldMkLst>
          <pc:docMk/>
          <pc:sldMk cId="2022889900" sldId="256"/>
        </pc:sldMkLst>
      </pc:sldChg>
      <pc:sldChg chg="modSp mod">
        <pc:chgData name="Nazneen  Akhter" userId="773059a0-2524-48f3-b8a1-3d5bde9e3a77" providerId="ADAL" clId="{99260B15-426A-4EC8-9A62-D45A2EBEE25D}" dt="2024-08-20T12:23:38.118" v="6" actId="1036"/>
        <pc:sldMkLst>
          <pc:docMk/>
          <pc:sldMk cId="2638141642" sldId="26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13207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47966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20613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9/1/2025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80139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9/1/2025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0524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9/1/2025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0494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2295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90436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62712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92481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92317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9/1/2025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42949388"/>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englishmilagrosa.blogspot.com/2013/09/3rd-grade-primary-unit-1-computer-for.html" TargetMode="Externa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blendervr.limsi.fr/lib/exe/detail.php?id=start&amp;media=os-logos.png"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en.wikibooks.org/wiki/Microprocessor_Design/Interrupts"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8">
            <a:extLst>
              <a:ext uri="{FF2B5EF4-FFF2-40B4-BE49-F238E27FC236}">
                <a16:creationId xmlns:a16="http://schemas.microsoft.com/office/drawing/2014/main" id="{46A7B3EC-985A-4DD2-8195-8DE0CF5DA4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
            <a:ext cx="7537704" cy="6858002"/>
          </a:xfrm>
          <a:prstGeom prst="rect">
            <a:avLst/>
          </a:prstGeom>
          <a:solidFill>
            <a:srgbClr val="4A6F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6556B6-11C5-4D69-BBE3-0960667AABA2}"/>
              </a:ext>
            </a:extLst>
          </p:cNvPr>
          <p:cNvSpPr>
            <a:spLocks noGrp="1"/>
          </p:cNvSpPr>
          <p:nvPr>
            <p:ph type="ctrTitle"/>
          </p:nvPr>
        </p:nvSpPr>
        <p:spPr>
          <a:xfrm>
            <a:off x="4772676" y="1823656"/>
            <a:ext cx="7419321" cy="1599483"/>
          </a:xfrm>
        </p:spPr>
        <p:txBody>
          <a:bodyPr vert="horz" lIns="91440" tIns="45720" rIns="91440" bIns="45720" rtlCol="0">
            <a:normAutofit/>
          </a:bodyPr>
          <a:lstStyle/>
          <a:p>
            <a:pPr algn="l"/>
            <a:r>
              <a:rPr lang="en-US" sz="4400" b="1" kern="1200" cap="all" spc="300" baseline="0" dirty="0">
                <a:solidFill>
                  <a:srgbClr val="FFFFFF"/>
                </a:solidFill>
                <a:latin typeface="Times New Roman"/>
                <a:cs typeface="Times New Roman"/>
              </a:rPr>
              <a:t>Operating System</a:t>
            </a:r>
          </a:p>
        </p:txBody>
      </p:sp>
      <p:sp>
        <p:nvSpPr>
          <p:cNvPr id="3" name="Subtitle 2">
            <a:extLst>
              <a:ext uri="{FF2B5EF4-FFF2-40B4-BE49-F238E27FC236}">
                <a16:creationId xmlns:a16="http://schemas.microsoft.com/office/drawing/2014/main" id="{6F4CD856-47F7-4C8A-BA1E-9E0698863EA7}"/>
              </a:ext>
            </a:extLst>
          </p:cNvPr>
          <p:cNvSpPr>
            <a:spLocks noGrp="1"/>
          </p:cNvSpPr>
          <p:nvPr>
            <p:ph type="subTitle" idx="1"/>
          </p:nvPr>
        </p:nvSpPr>
        <p:spPr>
          <a:xfrm>
            <a:off x="5189620" y="4106004"/>
            <a:ext cx="5478380" cy="1860883"/>
          </a:xfrm>
        </p:spPr>
        <p:txBody>
          <a:bodyPr vert="horz" lIns="91440" tIns="45720" rIns="91440" bIns="45720" rtlCol="0">
            <a:normAutofit/>
          </a:bodyPr>
          <a:lstStyle/>
          <a:p>
            <a:pPr algn="l"/>
            <a:r>
              <a:rPr lang="en-US" sz="1700" dirty="0">
                <a:solidFill>
                  <a:srgbClr val="FFFFFF"/>
                </a:solidFill>
                <a:latin typeface="Times New Roman"/>
                <a:cs typeface="Times New Roman"/>
              </a:rPr>
              <a:t>Nazneen Akhter </a:t>
            </a:r>
          </a:p>
          <a:p>
            <a:pPr algn="l"/>
            <a:r>
              <a:rPr lang="en-US" sz="1700" dirty="0">
                <a:solidFill>
                  <a:srgbClr val="FFFFFF"/>
                </a:solidFill>
                <a:latin typeface="Times New Roman"/>
                <a:ea typeface="Yu Mincho"/>
                <a:cs typeface="Times New Roman"/>
              </a:rPr>
              <a:t>Assistant Professor</a:t>
            </a:r>
          </a:p>
          <a:p>
            <a:pPr algn="l"/>
            <a:r>
              <a:rPr lang="en-US" sz="1700" dirty="0">
                <a:solidFill>
                  <a:srgbClr val="FFFFFF"/>
                </a:solidFill>
                <a:latin typeface="Times New Roman"/>
                <a:cs typeface="Times New Roman"/>
              </a:rPr>
              <a:t>Dept. </a:t>
            </a:r>
            <a:r>
              <a:rPr lang="en-US" sz="1700">
                <a:solidFill>
                  <a:srgbClr val="FFFFFF"/>
                </a:solidFill>
                <a:latin typeface="Times New Roman"/>
                <a:cs typeface="Times New Roman"/>
              </a:rPr>
              <a:t>of ICT</a:t>
            </a:r>
            <a:endParaRPr lang="en-US" sz="1700" dirty="0">
              <a:solidFill>
                <a:srgbClr val="FFFFFF"/>
              </a:solidFill>
              <a:latin typeface="Times New Roman"/>
              <a:ea typeface="Yu Mincho"/>
              <a:cs typeface="Times New Roman"/>
            </a:endParaRPr>
          </a:p>
          <a:p>
            <a:pPr algn="l"/>
            <a:r>
              <a:rPr lang="en-US" sz="1700" dirty="0">
                <a:solidFill>
                  <a:srgbClr val="FFFFFF"/>
                </a:solidFill>
                <a:latin typeface="Times New Roman"/>
                <a:cs typeface="Times New Roman"/>
              </a:rPr>
              <a:t>Faculty of Science and Technology</a:t>
            </a:r>
            <a:endParaRPr lang="en-US" sz="1700" dirty="0">
              <a:solidFill>
                <a:srgbClr val="FFFFFF"/>
              </a:solidFill>
              <a:latin typeface="Times New Roman"/>
              <a:ea typeface="Yu Mincho"/>
              <a:cs typeface="Times New Roman"/>
            </a:endParaRPr>
          </a:p>
          <a:p>
            <a:pPr algn="l"/>
            <a:r>
              <a:rPr lang="en-US" sz="1700" dirty="0">
                <a:solidFill>
                  <a:srgbClr val="FFFFFF"/>
                </a:solidFill>
                <a:latin typeface="Times New Roman"/>
                <a:cs typeface="Times New Roman"/>
              </a:rPr>
              <a:t>Bangladesh University of Professionals (BUP) </a:t>
            </a:r>
            <a:endParaRPr lang="en-US" sz="1700" dirty="0">
              <a:solidFill>
                <a:srgbClr val="FFFFFF"/>
              </a:solidFill>
              <a:latin typeface="Times New Roman"/>
              <a:ea typeface="Yu Mincho"/>
              <a:cs typeface="Times New Roman"/>
            </a:endParaRPr>
          </a:p>
          <a:p>
            <a:pPr indent="-228600" algn="l">
              <a:buFont typeface="Arial" panose="020B0604020202020204" pitchFamily="34" charset="0"/>
              <a:buChar char="•"/>
            </a:pPr>
            <a:endParaRPr lang="en-US" sz="1700" dirty="0">
              <a:solidFill>
                <a:srgbClr val="FFFFFF"/>
              </a:solidFill>
              <a:latin typeface="Times New Roman"/>
              <a:cs typeface="Times New Roman"/>
            </a:endParaRPr>
          </a:p>
        </p:txBody>
      </p:sp>
      <p:sp>
        <p:nvSpPr>
          <p:cNvPr id="26" name="Rectangle 10">
            <a:extLst>
              <a:ext uri="{FF2B5EF4-FFF2-40B4-BE49-F238E27FC236}">
                <a16:creationId xmlns:a16="http://schemas.microsoft.com/office/drawing/2014/main" id="{FE02A880-6856-4185-AC84-E90DCBBF1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6674" y="2252951"/>
            <a:ext cx="2218670" cy="2329641"/>
          </a:xfrm>
          <a:prstGeom prst="rect">
            <a:avLst/>
          </a:prstGeom>
          <a:solidFill>
            <a:srgbClr val="FFFFFF"/>
          </a:solidFill>
          <a:ln w="31750" cap="sq">
            <a:solidFill>
              <a:srgbClr val="FFBB29"/>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ill Sans MT" panose="020B0502020104020203"/>
              <a:ea typeface="+mn-ea"/>
              <a:cs typeface="+mn-cs"/>
            </a:endParaRPr>
          </a:p>
        </p:txBody>
      </p:sp>
      <p:pic>
        <p:nvPicPr>
          <p:cNvPr id="4" name="Picture 4" descr="A picture containing text, clipart&#10;&#10;Description automatically generated">
            <a:extLst>
              <a:ext uri="{FF2B5EF4-FFF2-40B4-BE49-F238E27FC236}">
                <a16:creationId xmlns:a16="http://schemas.microsoft.com/office/drawing/2014/main" id="{6AA628A2-017A-43C5-BAC9-37C47B998789}"/>
              </a:ext>
            </a:extLst>
          </p:cNvPr>
          <p:cNvPicPr>
            <a:picLocks noChangeAspect="1"/>
          </p:cNvPicPr>
          <p:nvPr/>
        </p:nvPicPr>
        <p:blipFill rotWithShape="1">
          <a:blip r:embed="rId2"/>
          <a:srcRect r="3238" b="2"/>
          <a:stretch/>
        </p:blipFill>
        <p:spPr>
          <a:xfrm>
            <a:off x="1364177" y="2407359"/>
            <a:ext cx="1883664" cy="2020824"/>
          </a:xfrm>
          <a:prstGeom prst="rect">
            <a:avLst/>
          </a:prstGeom>
        </p:spPr>
      </p:pic>
    </p:spTree>
    <p:extLst>
      <p:ext uri="{BB962C8B-B14F-4D97-AF65-F5344CB8AC3E}">
        <p14:creationId xmlns:p14="http://schemas.microsoft.com/office/powerpoint/2010/main" val="2022889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1324F-2FF4-4886-A3E6-18B3161D7520}"/>
              </a:ext>
            </a:extLst>
          </p:cNvPr>
          <p:cNvSpPr>
            <a:spLocks noGrp="1"/>
          </p:cNvSpPr>
          <p:nvPr>
            <p:ph type="title"/>
          </p:nvPr>
        </p:nvSpPr>
        <p:spPr>
          <a:xfrm>
            <a:off x="4858085" y="241077"/>
            <a:ext cx="6422849" cy="1676603"/>
          </a:xfrm>
        </p:spPr>
        <p:txBody>
          <a:bodyPr>
            <a:normAutofit/>
          </a:bodyPr>
          <a:lstStyle/>
          <a:p>
            <a:r>
              <a:rPr lang="en-US" b="1">
                <a:latin typeface="Times New Roman"/>
                <a:ea typeface="Yu Mincho Demibold"/>
                <a:cs typeface="Times New Roman"/>
              </a:rPr>
              <a:t>Introduction</a:t>
            </a:r>
            <a:endParaRPr lang="en-US" b="1">
              <a:latin typeface="Times New Roman"/>
              <a:cs typeface="Times New Roman"/>
            </a:endParaRPr>
          </a:p>
        </p:txBody>
      </p:sp>
      <p:sp>
        <p:nvSpPr>
          <p:cNvPr id="10" name="Rectangle 9">
            <a:extLst>
              <a:ext uri="{FF2B5EF4-FFF2-40B4-BE49-F238E27FC236}">
                <a16:creationId xmlns:a16="http://schemas.microsoft.com/office/drawing/2014/main" id="{C95B82D5-A8BB-45BF-BED8-C7B206892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solidFill>
            <a:srgbClr val="3A3B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296C61EC-FBF4-4216-BE67-6C864D30A0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2" y="484632"/>
            <a:ext cx="3666744"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text, clipart&#10;&#10;Description automatically generated">
            <a:extLst>
              <a:ext uri="{FF2B5EF4-FFF2-40B4-BE49-F238E27FC236}">
                <a16:creationId xmlns:a16="http://schemas.microsoft.com/office/drawing/2014/main" id="{327E2929-382A-44D5-A008-9F121CB38725}"/>
              </a:ext>
            </a:extLst>
          </p:cNvPr>
          <p:cNvPicPr>
            <a:picLocks noChangeAspect="1"/>
          </p:cNvPicPr>
          <p:nvPr/>
        </p:nvPicPr>
        <p:blipFill>
          <a:blip r:embed="rId2"/>
          <a:stretch>
            <a:fillRect/>
          </a:stretch>
        </p:blipFill>
        <p:spPr>
          <a:xfrm>
            <a:off x="10832684" y="98558"/>
            <a:ext cx="1273018" cy="1248669"/>
          </a:xfrm>
          <a:prstGeom prst="rect">
            <a:avLst/>
          </a:prstGeom>
        </p:spPr>
      </p:pic>
      <p:pic>
        <p:nvPicPr>
          <p:cNvPr id="4" name="Picture 5" descr="A picture containing clipart, vector graphics&#10;&#10;Description automatically generated">
            <a:extLst>
              <a:ext uri="{FF2B5EF4-FFF2-40B4-BE49-F238E27FC236}">
                <a16:creationId xmlns:a16="http://schemas.microsoft.com/office/drawing/2014/main" id="{3E8BC315-0407-49B7-A7D3-F6E566E08B24}"/>
              </a:ext>
            </a:extLst>
          </p:cNvPr>
          <p:cNvPicPr>
            <a:picLocks noChangeAspect="1"/>
          </p:cNvPicPr>
          <p:nvPr/>
        </p:nvPicPr>
        <p:blipFill>
          <a:blip r:embed="rId3"/>
          <a:stretch>
            <a:fillRect/>
          </a:stretch>
        </p:blipFill>
        <p:spPr>
          <a:xfrm>
            <a:off x="804672" y="2290327"/>
            <a:ext cx="3026663" cy="1732433"/>
          </a:xfrm>
          <a:prstGeom prst="rect">
            <a:avLst/>
          </a:prstGeom>
          <a:effectLst/>
        </p:spPr>
      </p:pic>
      <p:sp>
        <p:nvSpPr>
          <p:cNvPr id="3" name="Content Placeholder 2">
            <a:extLst>
              <a:ext uri="{FF2B5EF4-FFF2-40B4-BE49-F238E27FC236}">
                <a16:creationId xmlns:a16="http://schemas.microsoft.com/office/drawing/2014/main" id="{6C37FB36-AF47-4B99-91A4-C969C242D552}"/>
              </a:ext>
            </a:extLst>
          </p:cNvPr>
          <p:cNvSpPr>
            <a:spLocks noGrp="1"/>
          </p:cNvSpPr>
          <p:nvPr>
            <p:ph idx="1"/>
          </p:nvPr>
        </p:nvSpPr>
        <p:spPr>
          <a:xfrm>
            <a:off x="4699936" y="2035834"/>
            <a:ext cx="7256734" cy="3785419"/>
          </a:xfrm>
        </p:spPr>
        <p:txBody>
          <a:bodyPr vert="horz" lIns="109728" tIns="109728" rIns="109728" bIns="91440" rtlCol="0" anchor="t">
            <a:normAutofit lnSpcReduction="10000"/>
          </a:bodyPr>
          <a:lstStyle/>
          <a:p>
            <a:pPr algn="just"/>
            <a:r>
              <a:rPr lang="en-US" dirty="0">
                <a:latin typeface="Times New Roman"/>
                <a:ea typeface="+mn-lt"/>
                <a:cs typeface="+mn-lt"/>
              </a:rPr>
              <a:t>An operating system is a program that manages a computer’s hardware</a:t>
            </a:r>
            <a:endParaRPr lang="en-US">
              <a:latin typeface="Times New Roman"/>
              <a:cs typeface="Times New Roman"/>
            </a:endParaRPr>
          </a:p>
          <a:p>
            <a:pPr algn="just"/>
            <a:r>
              <a:rPr lang="en-US" dirty="0">
                <a:latin typeface="Times New Roman"/>
                <a:ea typeface="+mn-lt"/>
                <a:cs typeface="+mn-lt"/>
              </a:rPr>
              <a:t>It also provides a basis for application programs </a:t>
            </a:r>
            <a:endParaRPr lang="en-US">
              <a:latin typeface="Times New Roman"/>
              <a:ea typeface="+mn-lt"/>
              <a:cs typeface="Times New Roman"/>
            </a:endParaRPr>
          </a:p>
          <a:p>
            <a:pPr algn="just"/>
            <a:r>
              <a:rPr lang="en-US" dirty="0">
                <a:latin typeface="Times New Roman"/>
                <a:ea typeface="+mn-lt"/>
                <a:cs typeface="+mn-lt"/>
              </a:rPr>
              <a:t>It acts as an intermediary between the computer user and the computer hardware</a:t>
            </a:r>
            <a:endParaRPr lang="en-US">
              <a:latin typeface="Times New Roman"/>
              <a:cs typeface="Times New Roman"/>
            </a:endParaRPr>
          </a:p>
          <a:p>
            <a:pPr algn="just"/>
            <a:r>
              <a:rPr lang="en-US" dirty="0">
                <a:latin typeface="Times New Roman"/>
                <a:ea typeface="+mn-lt"/>
                <a:cs typeface="+mn-lt"/>
              </a:rPr>
              <a:t>It is a set of programs that manage computer hardware resources and provide common services for application software</a:t>
            </a:r>
            <a:endParaRPr lang="en-US">
              <a:latin typeface="Times New Roman"/>
              <a:ea typeface="Yu Mincho"/>
              <a:cs typeface="Times New Roman"/>
            </a:endParaRPr>
          </a:p>
        </p:txBody>
      </p:sp>
      <p:pic>
        <p:nvPicPr>
          <p:cNvPr id="11" name="Picture 12" descr="A picture containing computer, electronics&#10;&#10;Description automatically generated">
            <a:extLst>
              <a:ext uri="{FF2B5EF4-FFF2-40B4-BE49-F238E27FC236}">
                <a16:creationId xmlns:a16="http://schemas.microsoft.com/office/drawing/2014/main" id="{55919B11-A46A-4E8F-8854-882F2585FDFF}"/>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006616" y="763984"/>
            <a:ext cx="2731294" cy="1390635"/>
          </a:xfrm>
          <a:prstGeom prst="rect">
            <a:avLst/>
          </a:prstGeom>
        </p:spPr>
      </p:pic>
      <p:pic>
        <p:nvPicPr>
          <p:cNvPr id="15" name="Picture 15" descr="Free vector graphic: Man, Person, Avatar, Computer - Free ...">
            <a:extLst>
              <a:ext uri="{FF2B5EF4-FFF2-40B4-BE49-F238E27FC236}">
                <a16:creationId xmlns:a16="http://schemas.microsoft.com/office/drawing/2014/main" id="{7EEB0650-9FE7-4B3E-982F-07ACE48667DD}"/>
              </a:ext>
            </a:extLst>
          </p:cNvPr>
          <p:cNvPicPr>
            <a:picLocks noChangeAspect="1"/>
          </p:cNvPicPr>
          <p:nvPr/>
        </p:nvPicPr>
        <p:blipFill>
          <a:blip r:embed="rId6"/>
          <a:stretch>
            <a:fillRect/>
          </a:stretch>
        </p:blipFill>
        <p:spPr>
          <a:xfrm>
            <a:off x="1662022" y="4305721"/>
            <a:ext cx="1549881" cy="1754631"/>
          </a:xfrm>
          <a:prstGeom prst="rect">
            <a:avLst/>
          </a:prstGeom>
        </p:spPr>
      </p:pic>
    </p:spTree>
    <p:extLst>
      <p:ext uri="{BB962C8B-B14F-4D97-AF65-F5344CB8AC3E}">
        <p14:creationId xmlns:p14="http://schemas.microsoft.com/office/powerpoint/2010/main" val="117546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6FFFF-E6B0-4B99-9DFE-0C0E99501B0C}"/>
              </a:ext>
            </a:extLst>
          </p:cNvPr>
          <p:cNvSpPr>
            <a:spLocks noGrp="1"/>
          </p:cNvSpPr>
          <p:nvPr>
            <p:ph type="title"/>
          </p:nvPr>
        </p:nvSpPr>
        <p:spPr>
          <a:xfrm>
            <a:off x="1042737" y="351567"/>
            <a:ext cx="9905999" cy="1360898"/>
          </a:xfrm>
        </p:spPr>
        <p:txBody>
          <a:bodyPr/>
          <a:lstStyle/>
          <a:p>
            <a:r>
              <a:rPr lang="en-US" sz="3200" b="1" dirty="0">
                <a:latin typeface="Times New Roman"/>
                <a:cs typeface="Times New Roman"/>
              </a:rPr>
              <a:t>Introduction (Cont.)</a:t>
            </a:r>
            <a:endParaRPr lang="en-US" sz="3200" dirty="0">
              <a:ea typeface="+mj-lt"/>
              <a:cs typeface="+mj-lt"/>
            </a:endParaRPr>
          </a:p>
          <a:p>
            <a:endParaRPr lang="en-US" dirty="0">
              <a:cs typeface="Calibri Light"/>
            </a:endParaRPr>
          </a:p>
        </p:txBody>
      </p:sp>
      <p:pic>
        <p:nvPicPr>
          <p:cNvPr id="13" name="Picture 13" descr="Diagram&#10;&#10;Description automatically generated">
            <a:extLst>
              <a:ext uri="{FF2B5EF4-FFF2-40B4-BE49-F238E27FC236}">
                <a16:creationId xmlns:a16="http://schemas.microsoft.com/office/drawing/2014/main" id="{F5B48F0F-802F-44A2-BDE8-7A061DDC45E4}"/>
              </a:ext>
            </a:extLst>
          </p:cNvPr>
          <p:cNvPicPr>
            <a:picLocks noGrp="1" noChangeAspect="1"/>
          </p:cNvPicPr>
          <p:nvPr>
            <p:ph idx="1"/>
          </p:nvPr>
        </p:nvPicPr>
        <p:blipFill>
          <a:blip r:embed="rId2"/>
          <a:stretch>
            <a:fillRect/>
          </a:stretch>
        </p:blipFill>
        <p:spPr>
          <a:xfrm>
            <a:off x="6382420" y="1760528"/>
            <a:ext cx="4420264" cy="4369222"/>
          </a:xfrm>
        </p:spPr>
      </p:pic>
      <p:pic>
        <p:nvPicPr>
          <p:cNvPr id="14" name="Picture 14" descr="Diagram&#10;&#10;Description automatically generated">
            <a:extLst>
              <a:ext uri="{FF2B5EF4-FFF2-40B4-BE49-F238E27FC236}">
                <a16:creationId xmlns:a16="http://schemas.microsoft.com/office/drawing/2014/main" id="{379379CF-32FD-4B06-9140-6928EFB3EE5F}"/>
              </a:ext>
            </a:extLst>
          </p:cNvPr>
          <p:cNvPicPr>
            <a:picLocks noChangeAspect="1"/>
          </p:cNvPicPr>
          <p:nvPr/>
        </p:nvPicPr>
        <p:blipFill>
          <a:blip r:embed="rId3"/>
          <a:stretch>
            <a:fillRect/>
          </a:stretch>
        </p:blipFill>
        <p:spPr>
          <a:xfrm>
            <a:off x="1445796" y="1763887"/>
            <a:ext cx="4648198" cy="4423094"/>
          </a:xfrm>
          <a:prstGeom prst="rect">
            <a:avLst/>
          </a:prstGeom>
        </p:spPr>
      </p:pic>
      <p:pic>
        <p:nvPicPr>
          <p:cNvPr id="18" name="Picture 17" descr="A picture containing text, clipart&#10;&#10;Description automatically generated">
            <a:extLst>
              <a:ext uri="{FF2B5EF4-FFF2-40B4-BE49-F238E27FC236}">
                <a16:creationId xmlns:a16="http://schemas.microsoft.com/office/drawing/2014/main" id="{B51CF069-33B0-4DEC-92FF-A8381AD92452}"/>
              </a:ext>
            </a:extLst>
          </p:cNvPr>
          <p:cNvPicPr>
            <a:picLocks noChangeAspect="1"/>
          </p:cNvPicPr>
          <p:nvPr/>
        </p:nvPicPr>
        <p:blipFill>
          <a:blip r:embed="rId4"/>
          <a:stretch>
            <a:fillRect/>
          </a:stretch>
        </p:blipFill>
        <p:spPr>
          <a:xfrm>
            <a:off x="10966677" y="334056"/>
            <a:ext cx="1057275" cy="1095375"/>
          </a:xfrm>
          <a:prstGeom prst="rect">
            <a:avLst/>
          </a:prstGeom>
        </p:spPr>
      </p:pic>
    </p:spTree>
    <p:extLst>
      <p:ext uri="{BB962C8B-B14F-4D97-AF65-F5344CB8AC3E}">
        <p14:creationId xmlns:p14="http://schemas.microsoft.com/office/powerpoint/2010/main" val="633391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A879-972C-4337-AF52-04AB365A29E8}"/>
              </a:ext>
            </a:extLst>
          </p:cNvPr>
          <p:cNvSpPr>
            <a:spLocks noGrp="1"/>
          </p:cNvSpPr>
          <p:nvPr>
            <p:ph type="title"/>
          </p:nvPr>
        </p:nvSpPr>
        <p:spPr>
          <a:xfrm>
            <a:off x="1136428" y="627564"/>
            <a:ext cx="7474172" cy="1325563"/>
          </a:xfrm>
        </p:spPr>
        <p:txBody>
          <a:bodyPr>
            <a:normAutofit/>
          </a:bodyPr>
          <a:lstStyle/>
          <a:p>
            <a:r>
              <a:rPr lang="en-US" b="1">
                <a:latin typeface="Times New Roman"/>
                <a:cs typeface="Times New Roman"/>
              </a:rPr>
              <a:t>Introduction (Cont.)</a:t>
            </a:r>
            <a:endParaRPr lang="en-US">
              <a:cs typeface="Calibri Light"/>
            </a:endParaRPr>
          </a:p>
        </p:txBody>
      </p:sp>
      <p:sp>
        <p:nvSpPr>
          <p:cNvPr id="3" name="Content Placeholder 2">
            <a:extLst>
              <a:ext uri="{FF2B5EF4-FFF2-40B4-BE49-F238E27FC236}">
                <a16:creationId xmlns:a16="http://schemas.microsoft.com/office/drawing/2014/main" id="{521FAF62-850E-4789-B954-2AA5B32F6B2C}"/>
              </a:ext>
            </a:extLst>
          </p:cNvPr>
          <p:cNvSpPr>
            <a:spLocks noGrp="1"/>
          </p:cNvSpPr>
          <p:nvPr>
            <p:ph idx="1"/>
          </p:nvPr>
        </p:nvSpPr>
        <p:spPr>
          <a:xfrm>
            <a:off x="1108393" y="2358913"/>
            <a:ext cx="8495072" cy="1524047"/>
          </a:xfrm>
        </p:spPr>
        <p:txBody>
          <a:bodyPr vert="horz" lIns="91440" tIns="45720" rIns="91440" bIns="45720" rtlCol="0" anchor="ctr">
            <a:noAutofit/>
          </a:bodyPr>
          <a:lstStyle/>
          <a:p>
            <a:pPr marL="0" indent="0" rtl="0">
              <a:buNone/>
            </a:pPr>
            <a:endParaRPr lang="en-US" sz="2600" dirty="0">
              <a:latin typeface="Helvetica"/>
              <a:ea typeface="Helvetica"/>
              <a:cs typeface="Helvetica"/>
            </a:endParaRPr>
          </a:p>
          <a:p>
            <a:pPr marL="0" indent="0" rtl="0">
              <a:buNone/>
            </a:pPr>
            <a:r>
              <a:rPr lang="en-US" sz="2600" b="1" dirty="0">
                <a:latin typeface="Times New Roman"/>
                <a:ea typeface="Helvetica"/>
                <a:cs typeface="Helvetica"/>
              </a:rPr>
              <a:t>Operating system goals:</a:t>
            </a:r>
          </a:p>
          <a:p>
            <a:pPr rtl="0"/>
            <a:r>
              <a:rPr lang="en-US" sz="2600" dirty="0">
                <a:latin typeface="Times New Roman"/>
                <a:ea typeface="Helvetica"/>
                <a:cs typeface="Helvetica"/>
              </a:rPr>
              <a:t>Execute user programs and make solving user problems easier</a:t>
            </a:r>
          </a:p>
          <a:p>
            <a:pPr rtl="0"/>
            <a:r>
              <a:rPr lang="en-US" sz="2600" dirty="0">
                <a:latin typeface="Times New Roman"/>
                <a:ea typeface="Helvetica"/>
                <a:cs typeface="Helvetica"/>
              </a:rPr>
              <a:t>Make the computer system convenient to use</a:t>
            </a:r>
          </a:p>
          <a:p>
            <a:pPr rtl="0"/>
            <a:r>
              <a:rPr lang="en-US" sz="2600" dirty="0">
                <a:latin typeface="Times New Roman"/>
                <a:ea typeface="Helvetica"/>
                <a:cs typeface="Helvetica"/>
              </a:rPr>
              <a:t>Use the computer hardware in an efficient manner</a:t>
            </a:r>
            <a:endParaRPr lang="en-US" sz="2600" dirty="0">
              <a:latin typeface="Times New Roman"/>
              <a:cs typeface="Times New Roman"/>
            </a:endParaRPr>
          </a:p>
        </p:txBody>
      </p:sp>
      <p:sp>
        <p:nvSpPr>
          <p:cNvPr id="24" name="Rectangle 23">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rgbClr val="4A6F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rgbClr val="FFBB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text, clipart&#10;&#10;Description automatically generated">
            <a:extLst>
              <a:ext uri="{FF2B5EF4-FFF2-40B4-BE49-F238E27FC236}">
                <a16:creationId xmlns:a16="http://schemas.microsoft.com/office/drawing/2014/main" id="{E8D272DC-7B3E-4B51-A53C-8969CB83EAF9}"/>
              </a:ext>
            </a:extLst>
          </p:cNvPr>
          <p:cNvPicPr>
            <a:picLocks noChangeAspect="1"/>
          </p:cNvPicPr>
          <p:nvPr/>
        </p:nvPicPr>
        <p:blipFill rotWithShape="1">
          <a:blip r:embed="rId2"/>
          <a:srcRect r="1" b="3825"/>
          <a:stretch/>
        </p:blipFill>
        <p:spPr>
          <a:xfrm>
            <a:off x="9413070" y="2857501"/>
            <a:ext cx="1144831" cy="1142998"/>
          </a:xfrm>
          <a:prstGeom prst="rect">
            <a:avLst/>
          </a:prstGeom>
        </p:spPr>
      </p:pic>
    </p:spTree>
    <p:extLst>
      <p:ext uri="{BB962C8B-B14F-4D97-AF65-F5344CB8AC3E}">
        <p14:creationId xmlns:p14="http://schemas.microsoft.com/office/powerpoint/2010/main" val="1712486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76496-BF68-4529-BCF2-A5C600E3AB3F}"/>
              </a:ext>
            </a:extLst>
          </p:cNvPr>
          <p:cNvSpPr>
            <a:spLocks noGrp="1"/>
          </p:cNvSpPr>
          <p:nvPr>
            <p:ph type="title"/>
          </p:nvPr>
        </p:nvSpPr>
        <p:spPr>
          <a:xfrm>
            <a:off x="1136428" y="627564"/>
            <a:ext cx="7474172" cy="1325563"/>
          </a:xfrm>
        </p:spPr>
        <p:txBody>
          <a:bodyPr>
            <a:normAutofit/>
          </a:bodyPr>
          <a:lstStyle/>
          <a:p>
            <a:r>
              <a:rPr lang="en-US" b="1">
                <a:latin typeface="Times New Roman"/>
                <a:cs typeface="Times New Roman"/>
              </a:rPr>
              <a:t>Introduction (Cont.)</a:t>
            </a:r>
            <a:endParaRPr lang="en-US"/>
          </a:p>
        </p:txBody>
      </p:sp>
      <p:sp>
        <p:nvSpPr>
          <p:cNvPr id="3" name="Content Placeholder 2">
            <a:extLst>
              <a:ext uri="{FF2B5EF4-FFF2-40B4-BE49-F238E27FC236}">
                <a16:creationId xmlns:a16="http://schemas.microsoft.com/office/drawing/2014/main" id="{00725712-F3D1-44B1-B59B-633837978A49}"/>
              </a:ext>
            </a:extLst>
          </p:cNvPr>
          <p:cNvSpPr>
            <a:spLocks noGrp="1"/>
          </p:cNvSpPr>
          <p:nvPr>
            <p:ph idx="1"/>
          </p:nvPr>
        </p:nvSpPr>
        <p:spPr>
          <a:xfrm>
            <a:off x="1136429" y="2278173"/>
            <a:ext cx="7790583" cy="3450613"/>
          </a:xfrm>
        </p:spPr>
        <p:txBody>
          <a:bodyPr vert="horz" lIns="91440" tIns="45720" rIns="91440" bIns="45720" rtlCol="0" anchor="ctr">
            <a:normAutofit/>
          </a:bodyPr>
          <a:lstStyle/>
          <a:p>
            <a:r>
              <a:rPr lang="en-US" sz="2400">
                <a:latin typeface="Times New Roman"/>
                <a:ea typeface="+mn-lt"/>
                <a:cs typeface="+mn-lt"/>
              </a:rPr>
              <a:t>OS is a </a:t>
            </a:r>
            <a:r>
              <a:rPr lang="en-US" sz="2400" b="1">
                <a:latin typeface="Times New Roman"/>
                <a:ea typeface="+mn-lt"/>
                <a:cs typeface="+mn-lt"/>
              </a:rPr>
              <a:t>resource allocator</a:t>
            </a:r>
            <a:endParaRPr lang="en-US" sz="2400">
              <a:latin typeface="Times New Roman"/>
              <a:cs typeface="Calibri" panose="020F0502020204030204"/>
            </a:endParaRPr>
          </a:p>
          <a:p>
            <a:pPr marL="0" indent="0">
              <a:buNone/>
            </a:pPr>
            <a:r>
              <a:rPr lang="en-US" sz="2400">
                <a:latin typeface="Times New Roman"/>
                <a:ea typeface="+mn-lt"/>
                <a:cs typeface="+mn-lt"/>
              </a:rPr>
              <a:t>        - Manages all resources</a:t>
            </a:r>
            <a:endParaRPr lang="en-US" sz="2400">
              <a:latin typeface="Times New Roman"/>
              <a:cs typeface="Calibri" panose="020F0502020204030204"/>
            </a:endParaRPr>
          </a:p>
          <a:p>
            <a:pPr marL="0" indent="0">
              <a:buNone/>
            </a:pPr>
            <a:r>
              <a:rPr lang="en-US" sz="2400">
                <a:latin typeface="Times New Roman"/>
                <a:ea typeface="+mn-lt"/>
                <a:cs typeface="+mn-lt"/>
              </a:rPr>
              <a:t>        - Decides between conflicting requests for efficient and fair resource use</a:t>
            </a:r>
            <a:endParaRPr lang="en-US" sz="2400">
              <a:latin typeface="Times New Roman"/>
              <a:cs typeface="Calibri" panose="020F0502020204030204"/>
            </a:endParaRPr>
          </a:p>
          <a:p>
            <a:pPr>
              <a:buFont typeface="Arial"/>
            </a:pPr>
            <a:r>
              <a:rPr lang="en-US" sz="2400">
                <a:latin typeface="Times New Roman"/>
                <a:ea typeface="+mn-lt"/>
                <a:cs typeface="+mn-lt"/>
              </a:rPr>
              <a:t>OS is a </a:t>
            </a:r>
            <a:r>
              <a:rPr lang="en-US" sz="2400" b="1">
                <a:latin typeface="Times New Roman"/>
                <a:ea typeface="+mn-lt"/>
                <a:cs typeface="+mn-lt"/>
              </a:rPr>
              <a:t>control program</a:t>
            </a:r>
            <a:endParaRPr lang="en-US" sz="2400">
              <a:latin typeface="Times New Roman"/>
              <a:cs typeface="Calibri" panose="020F0502020204030204"/>
            </a:endParaRPr>
          </a:p>
          <a:p>
            <a:pPr marL="0" indent="0">
              <a:buNone/>
            </a:pPr>
            <a:r>
              <a:rPr lang="en-US" sz="2400">
                <a:latin typeface="Times New Roman"/>
                <a:ea typeface="+mn-lt"/>
                <a:cs typeface="+mn-lt"/>
              </a:rPr>
              <a:t>        - Controls execution of programs to prevent errors and improper use of the computer</a:t>
            </a:r>
            <a:endParaRPr lang="en-US" sz="2400">
              <a:latin typeface="Times New Roman"/>
              <a:cs typeface="Calibri"/>
            </a:endParaRPr>
          </a:p>
          <a:p>
            <a:endParaRPr lang="en-US" sz="2400">
              <a:latin typeface="Times New Roman"/>
              <a:cs typeface="Calibri"/>
            </a:endParaRP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rgbClr val="4A6F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rgbClr val="FFBB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text, clipart&#10;&#10;Description automatically generated">
            <a:extLst>
              <a:ext uri="{FF2B5EF4-FFF2-40B4-BE49-F238E27FC236}">
                <a16:creationId xmlns:a16="http://schemas.microsoft.com/office/drawing/2014/main" id="{7ECE9ACF-E64E-4187-879F-A959C504230F}"/>
              </a:ext>
            </a:extLst>
          </p:cNvPr>
          <p:cNvPicPr>
            <a:picLocks noChangeAspect="1"/>
          </p:cNvPicPr>
          <p:nvPr/>
        </p:nvPicPr>
        <p:blipFill>
          <a:blip r:embed="rId2"/>
          <a:stretch>
            <a:fillRect/>
          </a:stretch>
        </p:blipFill>
        <p:spPr>
          <a:xfrm>
            <a:off x="9434959" y="2857501"/>
            <a:ext cx="1101053" cy="1142998"/>
          </a:xfrm>
          <a:prstGeom prst="rect">
            <a:avLst/>
          </a:prstGeom>
        </p:spPr>
      </p:pic>
      <p:pic>
        <p:nvPicPr>
          <p:cNvPr id="6" name="Picture 6" descr="Icon&#10;&#10;Description automatically generated">
            <a:extLst>
              <a:ext uri="{FF2B5EF4-FFF2-40B4-BE49-F238E27FC236}">
                <a16:creationId xmlns:a16="http://schemas.microsoft.com/office/drawing/2014/main" id="{86412515-9424-4E3E-ACA2-6228F7C6FED2}"/>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10087154" y="4639573"/>
            <a:ext cx="2053088" cy="1173193"/>
          </a:xfrm>
          <a:prstGeom prst="rect">
            <a:avLst/>
          </a:prstGeom>
        </p:spPr>
      </p:pic>
    </p:spTree>
    <p:extLst>
      <p:ext uri="{BB962C8B-B14F-4D97-AF65-F5344CB8AC3E}">
        <p14:creationId xmlns:p14="http://schemas.microsoft.com/office/powerpoint/2010/main" val="3079591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174DA-5E4B-4EC4-AE60-89A8A65C774D}"/>
              </a:ext>
            </a:extLst>
          </p:cNvPr>
          <p:cNvSpPr>
            <a:spLocks noGrp="1"/>
          </p:cNvSpPr>
          <p:nvPr>
            <p:ph type="title"/>
          </p:nvPr>
        </p:nvSpPr>
        <p:spPr>
          <a:xfrm>
            <a:off x="690730" y="397526"/>
            <a:ext cx="7474172" cy="1325563"/>
          </a:xfrm>
        </p:spPr>
        <p:txBody>
          <a:bodyPr>
            <a:normAutofit/>
          </a:bodyPr>
          <a:lstStyle/>
          <a:p>
            <a:r>
              <a:rPr lang="en-US" sz="3200" b="1" dirty="0">
                <a:latin typeface="Times New Roman"/>
                <a:ea typeface="+mj-lt"/>
                <a:cs typeface="+mj-lt"/>
              </a:rPr>
              <a:t>Computer System Structure</a:t>
            </a:r>
            <a:endParaRPr lang="en-US" sz="3200" dirty="0">
              <a:latin typeface="Times New Roman"/>
              <a:cs typeface="Calibri Light"/>
            </a:endParaRPr>
          </a:p>
        </p:txBody>
      </p:sp>
      <p:sp>
        <p:nvSpPr>
          <p:cNvPr id="3" name="Content Placeholder 2">
            <a:extLst>
              <a:ext uri="{FF2B5EF4-FFF2-40B4-BE49-F238E27FC236}">
                <a16:creationId xmlns:a16="http://schemas.microsoft.com/office/drawing/2014/main" id="{75AE3552-96AB-4751-9B2F-CBF69FFCBAAB}"/>
              </a:ext>
            </a:extLst>
          </p:cNvPr>
          <p:cNvSpPr>
            <a:spLocks noGrp="1"/>
          </p:cNvSpPr>
          <p:nvPr>
            <p:ph idx="1"/>
          </p:nvPr>
        </p:nvSpPr>
        <p:spPr>
          <a:xfrm>
            <a:off x="690730" y="2364438"/>
            <a:ext cx="9012659" cy="3450613"/>
          </a:xfrm>
        </p:spPr>
        <p:txBody>
          <a:bodyPr vert="horz" lIns="91440" tIns="45720" rIns="91440" bIns="45720" rtlCol="0" anchor="ctr">
            <a:noAutofit/>
          </a:bodyPr>
          <a:lstStyle/>
          <a:p>
            <a:pPr marL="0" indent="0">
              <a:buNone/>
            </a:pPr>
            <a:r>
              <a:rPr lang="en-US" sz="2400" dirty="0">
                <a:latin typeface="Times New Roman"/>
                <a:ea typeface="+mn-lt"/>
                <a:cs typeface="+mn-lt"/>
              </a:rPr>
              <a:t>Computer system can be divided into four components:</a:t>
            </a:r>
            <a:endParaRPr lang="en-US" sz="2400" dirty="0">
              <a:latin typeface="Times New Roman"/>
              <a:cs typeface="Calibri" panose="020F0502020204030204"/>
            </a:endParaRPr>
          </a:p>
          <a:p>
            <a:r>
              <a:rPr lang="en-US" sz="2400" b="1" dirty="0">
                <a:latin typeface="Times New Roman"/>
                <a:ea typeface="+mn-lt"/>
                <a:cs typeface="+mn-lt"/>
              </a:rPr>
              <a:t>Hardware</a:t>
            </a:r>
            <a:r>
              <a:rPr lang="en-US" sz="2400" dirty="0">
                <a:latin typeface="Times New Roman"/>
                <a:ea typeface="+mn-lt"/>
                <a:cs typeface="+mn-lt"/>
              </a:rPr>
              <a:t> – provides basic computing resources (CPU, memory,</a:t>
            </a:r>
          </a:p>
          <a:p>
            <a:pPr marL="0" indent="0">
              <a:buNone/>
            </a:pPr>
            <a:r>
              <a:rPr lang="en-US" sz="2400" dirty="0">
                <a:latin typeface="Times New Roman"/>
                <a:ea typeface="+mn-lt"/>
                <a:cs typeface="+mn-lt"/>
              </a:rPr>
              <a:t>    I/O devices)</a:t>
            </a:r>
            <a:endParaRPr lang="en-US" sz="2400" dirty="0">
              <a:latin typeface="Times New Roman"/>
              <a:cs typeface="Calibri" panose="020F0502020204030204"/>
            </a:endParaRPr>
          </a:p>
          <a:p>
            <a:r>
              <a:rPr lang="en-US" sz="2400" b="1" dirty="0">
                <a:latin typeface="Times New Roman"/>
                <a:ea typeface="+mn-lt"/>
                <a:cs typeface="+mn-lt"/>
              </a:rPr>
              <a:t>Operating system- </a:t>
            </a:r>
            <a:r>
              <a:rPr lang="en-US" sz="2400" dirty="0">
                <a:latin typeface="Times New Roman"/>
                <a:ea typeface="+mn-lt"/>
                <a:cs typeface="+mn-lt"/>
              </a:rPr>
              <a:t>Controls and coordinates use of hardware</a:t>
            </a:r>
          </a:p>
          <a:p>
            <a:pPr marL="0" indent="0">
              <a:buNone/>
            </a:pPr>
            <a:r>
              <a:rPr lang="en-US" sz="2400" dirty="0">
                <a:latin typeface="Times New Roman"/>
                <a:ea typeface="+mn-lt"/>
                <a:cs typeface="+mn-lt"/>
              </a:rPr>
              <a:t>    among various applications and users</a:t>
            </a:r>
            <a:endParaRPr lang="en-US" sz="2400" dirty="0">
              <a:latin typeface="Times New Roman"/>
              <a:cs typeface="Calibri" panose="020F0502020204030204"/>
            </a:endParaRPr>
          </a:p>
          <a:p>
            <a:r>
              <a:rPr lang="en-US" sz="2400" b="1" dirty="0">
                <a:latin typeface="Times New Roman"/>
                <a:ea typeface="+mn-lt"/>
                <a:cs typeface="+mn-lt"/>
              </a:rPr>
              <a:t>Application programs</a:t>
            </a:r>
            <a:r>
              <a:rPr lang="en-US" sz="2400" dirty="0">
                <a:latin typeface="Times New Roman"/>
                <a:ea typeface="+mn-lt"/>
                <a:cs typeface="+mn-lt"/>
              </a:rPr>
              <a:t> – define the ways in which the system resources are used to solve the computing problems of the users (Word processors, compilers, web browsers, database systems, video games)</a:t>
            </a:r>
            <a:endParaRPr lang="en-US" sz="2400" dirty="0">
              <a:latin typeface="Times New Roman"/>
              <a:cs typeface="Calibri" panose="020F0502020204030204"/>
            </a:endParaRPr>
          </a:p>
          <a:p>
            <a:r>
              <a:rPr lang="en-US" sz="2400" b="1" dirty="0">
                <a:latin typeface="Times New Roman"/>
                <a:ea typeface="+mn-lt"/>
                <a:cs typeface="+mn-lt"/>
              </a:rPr>
              <a:t>Users</a:t>
            </a:r>
            <a:r>
              <a:rPr lang="en-US" sz="2400" dirty="0">
                <a:latin typeface="Times New Roman"/>
                <a:ea typeface="+mn-lt"/>
                <a:cs typeface="+mn-lt"/>
              </a:rPr>
              <a:t>- People, machines, other computers</a:t>
            </a:r>
            <a:endParaRPr lang="en-US" sz="2400" dirty="0">
              <a:latin typeface="Times New Roman"/>
              <a:cs typeface="Calibri" panose="020F0502020204030204"/>
            </a:endParaRPr>
          </a:p>
          <a:p>
            <a:endParaRPr lang="en-US" sz="2400" dirty="0">
              <a:latin typeface="Times New Roman"/>
              <a:cs typeface="Calibri" panose="020F0502020204030204"/>
            </a:endParaRPr>
          </a:p>
        </p:txBody>
      </p:sp>
      <p:sp>
        <p:nvSpPr>
          <p:cNvPr id="12" name="Rectangle 11">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Computer">
            <a:extLst>
              <a:ext uri="{FF2B5EF4-FFF2-40B4-BE49-F238E27FC236}">
                <a16:creationId xmlns:a16="http://schemas.microsoft.com/office/drawing/2014/main" id="{AD68875E-CCB9-4300-B536-9AE0A06E84A9}"/>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pic>
        <p:nvPicPr>
          <p:cNvPr id="5" name="Picture 4" descr="A picture containing text, clipart&#10;&#10;Description automatically generated">
            <a:extLst>
              <a:ext uri="{FF2B5EF4-FFF2-40B4-BE49-F238E27FC236}">
                <a16:creationId xmlns:a16="http://schemas.microsoft.com/office/drawing/2014/main" id="{AFCB3B16-EBD2-44D8-8EB0-FEC81D667F43}"/>
              </a:ext>
            </a:extLst>
          </p:cNvPr>
          <p:cNvPicPr>
            <a:picLocks noChangeAspect="1"/>
          </p:cNvPicPr>
          <p:nvPr/>
        </p:nvPicPr>
        <p:blipFill>
          <a:blip r:embed="rId4"/>
          <a:stretch>
            <a:fillRect/>
          </a:stretch>
        </p:blipFill>
        <p:spPr>
          <a:xfrm>
            <a:off x="11097019" y="203714"/>
            <a:ext cx="1057275" cy="1095375"/>
          </a:xfrm>
          <a:prstGeom prst="rect">
            <a:avLst/>
          </a:prstGeom>
        </p:spPr>
      </p:pic>
    </p:spTree>
    <p:extLst>
      <p:ext uri="{BB962C8B-B14F-4D97-AF65-F5344CB8AC3E}">
        <p14:creationId xmlns:p14="http://schemas.microsoft.com/office/powerpoint/2010/main" val="1214622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174DA-5E4B-4EC4-AE60-89A8A65C774D}"/>
              </a:ext>
            </a:extLst>
          </p:cNvPr>
          <p:cNvSpPr>
            <a:spLocks noGrp="1"/>
          </p:cNvSpPr>
          <p:nvPr>
            <p:ph type="title"/>
          </p:nvPr>
        </p:nvSpPr>
        <p:spPr/>
        <p:txBody>
          <a:bodyPr>
            <a:normAutofit/>
          </a:bodyPr>
          <a:lstStyle/>
          <a:p>
            <a:r>
              <a:rPr lang="en-US" sz="3200" b="1" dirty="0">
                <a:latin typeface="Times New Roman"/>
                <a:ea typeface="+mj-lt"/>
                <a:cs typeface="+mj-lt"/>
              </a:rPr>
              <a:t>Four Components of a Computer System</a:t>
            </a:r>
            <a:endParaRPr lang="en-US" sz="3200">
              <a:latin typeface="Times New Roman"/>
              <a:cs typeface="Calibri Light"/>
            </a:endParaRPr>
          </a:p>
        </p:txBody>
      </p:sp>
      <p:pic>
        <p:nvPicPr>
          <p:cNvPr id="4" name="Picture 5" descr="Diagram&#10;&#10;Description automatically generated">
            <a:extLst>
              <a:ext uri="{FF2B5EF4-FFF2-40B4-BE49-F238E27FC236}">
                <a16:creationId xmlns:a16="http://schemas.microsoft.com/office/drawing/2014/main" id="{9FF854CE-59A8-4E9D-BE59-0B5FBDE2FBD4}"/>
              </a:ext>
            </a:extLst>
          </p:cNvPr>
          <p:cNvPicPr>
            <a:picLocks noGrp="1" noChangeAspect="1"/>
          </p:cNvPicPr>
          <p:nvPr>
            <p:ph idx="1"/>
          </p:nvPr>
        </p:nvPicPr>
        <p:blipFill>
          <a:blip r:embed="rId2"/>
          <a:stretch>
            <a:fillRect/>
          </a:stretch>
        </p:blipFill>
        <p:spPr>
          <a:xfrm>
            <a:off x="3364191" y="1825625"/>
            <a:ext cx="6168108" cy="4566998"/>
          </a:xfrm>
        </p:spPr>
      </p:pic>
      <p:pic>
        <p:nvPicPr>
          <p:cNvPr id="5" name="Picture 4" descr="A picture containing text, clipart&#10;&#10;Description automatically generated">
            <a:extLst>
              <a:ext uri="{FF2B5EF4-FFF2-40B4-BE49-F238E27FC236}">
                <a16:creationId xmlns:a16="http://schemas.microsoft.com/office/drawing/2014/main" id="{AFCB3B16-EBD2-44D8-8EB0-FEC81D667F43}"/>
              </a:ext>
            </a:extLst>
          </p:cNvPr>
          <p:cNvPicPr>
            <a:picLocks noChangeAspect="1"/>
          </p:cNvPicPr>
          <p:nvPr/>
        </p:nvPicPr>
        <p:blipFill>
          <a:blip r:embed="rId3"/>
          <a:stretch>
            <a:fillRect/>
          </a:stretch>
        </p:blipFill>
        <p:spPr>
          <a:xfrm>
            <a:off x="10966677" y="334056"/>
            <a:ext cx="1057275" cy="1095375"/>
          </a:xfrm>
          <a:prstGeom prst="rect">
            <a:avLst/>
          </a:prstGeom>
        </p:spPr>
      </p:pic>
    </p:spTree>
    <p:extLst>
      <p:ext uri="{BB962C8B-B14F-4D97-AF65-F5344CB8AC3E}">
        <p14:creationId xmlns:p14="http://schemas.microsoft.com/office/powerpoint/2010/main" val="687257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174DA-5E4B-4EC4-AE60-89A8A65C774D}"/>
              </a:ext>
            </a:extLst>
          </p:cNvPr>
          <p:cNvSpPr>
            <a:spLocks noGrp="1"/>
          </p:cNvSpPr>
          <p:nvPr>
            <p:ph type="title"/>
          </p:nvPr>
        </p:nvSpPr>
        <p:spPr/>
        <p:txBody>
          <a:bodyPr>
            <a:normAutofit/>
          </a:bodyPr>
          <a:lstStyle/>
          <a:p>
            <a:r>
              <a:rPr lang="en-US" sz="3200" b="1" dirty="0">
                <a:latin typeface="Times New Roman"/>
                <a:cs typeface="Times New Roman"/>
              </a:rPr>
              <a:t>Kernel  </a:t>
            </a:r>
            <a:endParaRPr lang="en-US" sz="3200" dirty="0"/>
          </a:p>
        </p:txBody>
      </p:sp>
      <p:sp>
        <p:nvSpPr>
          <p:cNvPr id="3" name="Content Placeholder 2">
            <a:extLst>
              <a:ext uri="{FF2B5EF4-FFF2-40B4-BE49-F238E27FC236}">
                <a16:creationId xmlns:a16="http://schemas.microsoft.com/office/drawing/2014/main" id="{75AE3552-96AB-4751-9B2F-CBF69FFCBAAB}"/>
              </a:ext>
            </a:extLst>
          </p:cNvPr>
          <p:cNvSpPr>
            <a:spLocks noGrp="1"/>
          </p:cNvSpPr>
          <p:nvPr>
            <p:ph idx="1"/>
          </p:nvPr>
        </p:nvSpPr>
        <p:spPr>
          <a:xfrm>
            <a:off x="751936" y="1581210"/>
            <a:ext cx="10946920" cy="4351338"/>
          </a:xfrm>
        </p:spPr>
        <p:txBody>
          <a:bodyPr vert="horz" lIns="91440" tIns="45720" rIns="91440" bIns="45720" rtlCol="0" anchor="t">
            <a:normAutofit/>
          </a:bodyPr>
          <a:lstStyle/>
          <a:p>
            <a:pPr algn="just"/>
            <a:r>
              <a:rPr lang="en-US" dirty="0">
                <a:latin typeface="Times New Roman"/>
                <a:ea typeface="+mn-lt"/>
                <a:cs typeface="+mn-lt"/>
              </a:rPr>
              <a:t>“The one program running at all times on the computer” is the </a:t>
            </a:r>
            <a:r>
              <a:rPr lang="en-US" b="1" dirty="0">
                <a:latin typeface="Times New Roman"/>
                <a:ea typeface="+mn-lt"/>
                <a:cs typeface="+mn-lt"/>
              </a:rPr>
              <a:t>kernel  </a:t>
            </a:r>
            <a:endParaRPr lang="en-US" dirty="0">
              <a:latin typeface="Times New Roman"/>
              <a:cs typeface="Calibri" panose="020F0502020204030204"/>
            </a:endParaRPr>
          </a:p>
          <a:p>
            <a:pPr marL="0" indent="0" algn="just">
              <a:buNone/>
            </a:pPr>
            <a:r>
              <a:rPr lang="en-US" dirty="0">
                <a:latin typeface="Times New Roman"/>
                <a:ea typeface="+mn-lt"/>
                <a:cs typeface="+mn-lt"/>
              </a:rPr>
              <a:t>•  A core component of Operating System without which OS can't work</a:t>
            </a:r>
          </a:p>
          <a:p>
            <a:pPr marL="0" indent="0" algn="just">
              <a:buNone/>
            </a:pPr>
            <a:r>
              <a:rPr lang="en-US" dirty="0">
                <a:latin typeface="Times New Roman"/>
                <a:ea typeface="+mn-lt"/>
                <a:cs typeface="+mn-lt"/>
              </a:rPr>
              <a:t>•  Kernel is the nervous system of OS</a:t>
            </a:r>
          </a:p>
          <a:p>
            <a:pPr marL="0" indent="0" algn="just">
              <a:buNone/>
            </a:pPr>
            <a:r>
              <a:rPr lang="en-US" dirty="0">
                <a:latin typeface="Times New Roman"/>
                <a:ea typeface="+mn-lt"/>
                <a:cs typeface="+mn-lt"/>
              </a:rPr>
              <a:t>•  It is the central core of OS</a:t>
            </a:r>
          </a:p>
          <a:p>
            <a:pPr marL="0" indent="0" algn="just">
              <a:buNone/>
            </a:pPr>
            <a:r>
              <a:rPr lang="en-US" dirty="0">
                <a:latin typeface="Times New Roman"/>
                <a:ea typeface="+mn-lt"/>
                <a:cs typeface="+mn-lt"/>
              </a:rPr>
              <a:t>• It controls everything in OS including I/O Management, Process Management and so on</a:t>
            </a:r>
          </a:p>
          <a:p>
            <a:pPr marL="0" indent="0" algn="just">
              <a:buNone/>
            </a:pPr>
            <a:r>
              <a:rPr lang="en-US" dirty="0">
                <a:latin typeface="Times New Roman"/>
                <a:ea typeface="+mn-lt"/>
                <a:cs typeface="+mn-lt"/>
              </a:rPr>
              <a:t>• It is a bridge between applications and the actual data processing done at the hardware level</a:t>
            </a:r>
          </a:p>
          <a:p>
            <a:pPr marL="0" indent="0" algn="just">
              <a:buNone/>
            </a:pPr>
            <a:r>
              <a:rPr lang="en-US" dirty="0">
                <a:latin typeface="Times New Roman"/>
                <a:ea typeface="+mn-lt"/>
                <a:cs typeface="+mn-lt"/>
              </a:rPr>
              <a:t>• It acts as an interface between the user applications and the hardware</a:t>
            </a:r>
            <a:endParaRPr lang="en-US" dirty="0">
              <a:latin typeface="Times New Roman"/>
              <a:cs typeface="Calibri"/>
            </a:endParaRPr>
          </a:p>
        </p:txBody>
      </p:sp>
      <p:pic>
        <p:nvPicPr>
          <p:cNvPr id="5" name="Picture 4" descr="A picture containing text, clipart&#10;&#10;Description automatically generated">
            <a:extLst>
              <a:ext uri="{FF2B5EF4-FFF2-40B4-BE49-F238E27FC236}">
                <a16:creationId xmlns:a16="http://schemas.microsoft.com/office/drawing/2014/main" id="{AFCB3B16-EBD2-44D8-8EB0-FEC81D667F43}"/>
              </a:ext>
            </a:extLst>
          </p:cNvPr>
          <p:cNvPicPr>
            <a:picLocks noChangeAspect="1"/>
          </p:cNvPicPr>
          <p:nvPr/>
        </p:nvPicPr>
        <p:blipFill>
          <a:blip r:embed="rId2"/>
          <a:stretch>
            <a:fillRect/>
          </a:stretch>
        </p:blipFill>
        <p:spPr>
          <a:xfrm>
            <a:off x="10966677" y="334056"/>
            <a:ext cx="1057275" cy="1095375"/>
          </a:xfrm>
          <a:prstGeom prst="rect">
            <a:avLst/>
          </a:prstGeom>
        </p:spPr>
      </p:pic>
    </p:spTree>
    <p:extLst>
      <p:ext uri="{BB962C8B-B14F-4D97-AF65-F5344CB8AC3E}">
        <p14:creationId xmlns:p14="http://schemas.microsoft.com/office/powerpoint/2010/main" val="122567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174DA-5E4B-4EC4-AE60-89A8A65C774D}"/>
              </a:ext>
            </a:extLst>
          </p:cNvPr>
          <p:cNvSpPr>
            <a:spLocks noGrp="1"/>
          </p:cNvSpPr>
          <p:nvPr>
            <p:ph type="title"/>
          </p:nvPr>
        </p:nvSpPr>
        <p:spPr/>
        <p:txBody>
          <a:bodyPr/>
          <a:lstStyle/>
          <a:p>
            <a:endParaRPr lang="en-US"/>
          </a:p>
        </p:txBody>
      </p:sp>
      <p:pic>
        <p:nvPicPr>
          <p:cNvPr id="4" name="Picture 5" descr="Graphical user interface&#10;&#10;Description automatically generated">
            <a:extLst>
              <a:ext uri="{FF2B5EF4-FFF2-40B4-BE49-F238E27FC236}">
                <a16:creationId xmlns:a16="http://schemas.microsoft.com/office/drawing/2014/main" id="{99289DF2-406A-4769-A125-95BAB268CE58}"/>
              </a:ext>
            </a:extLst>
          </p:cNvPr>
          <p:cNvPicPr>
            <a:picLocks noGrp="1" noChangeAspect="1"/>
          </p:cNvPicPr>
          <p:nvPr>
            <p:ph idx="1"/>
          </p:nvPr>
        </p:nvPicPr>
        <p:blipFill>
          <a:blip r:embed="rId2"/>
          <a:stretch>
            <a:fillRect/>
          </a:stretch>
        </p:blipFill>
        <p:spPr>
          <a:xfrm>
            <a:off x="7192273" y="1829146"/>
            <a:ext cx="3845944" cy="4603091"/>
          </a:xfrm>
        </p:spPr>
      </p:pic>
      <p:pic>
        <p:nvPicPr>
          <p:cNvPr id="5" name="Picture 4" descr="A picture containing text, clipart&#10;&#10;Description automatically generated">
            <a:extLst>
              <a:ext uri="{FF2B5EF4-FFF2-40B4-BE49-F238E27FC236}">
                <a16:creationId xmlns:a16="http://schemas.microsoft.com/office/drawing/2014/main" id="{AFCB3B16-EBD2-44D8-8EB0-FEC81D667F43}"/>
              </a:ext>
            </a:extLst>
          </p:cNvPr>
          <p:cNvPicPr>
            <a:picLocks noChangeAspect="1"/>
          </p:cNvPicPr>
          <p:nvPr/>
        </p:nvPicPr>
        <p:blipFill>
          <a:blip r:embed="rId3"/>
          <a:stretch>
            <a:fillRect/>
          </a:stretch>
        </p:blipFill>
        <p:spPr>
          <a:xfrm>
            <a:off x="10966677" y="334056"/>
            <a:ext cx="1057275" cy="1095375"/>
          </a:xfrm>
          <a:prstGeom prst="rect">
            <a:avLst/>
          </a:prstGeom>
        </p:spPr>
      </p:pic>
      <p:pic>
        <p:nvPicPr>
          <p:cNvPr id="10" name="Picture 10">
            <a:extLst>
              <a:ext uri="{FF2B5EF4-FFF2-40B4-BE49-F238E27FC236}">
                <a16:creationId xmlns:a16="http://schemas.microsoft.com/office/drawing/2014/main" id="{E68F4625-76AF-4206-801F-8DC39482CAD1}"/>
              </a:ext>
            </a:extLst>
          </p:cNvPr>
          <p:cNvPicPr>
            <a:picLocks noChangeAspect="1"/>
          </p:cNvPicPr>
          <p:nvPr/>
        </p:nvPicPr>
        <p:blipFill>
          <a:blip r:embed="rId4"/>
          <a:stretch>
            <a:fillRect/>
          </a:stretch>
        </p:blipFill>
        <p:spPr>
          <a:xfrm>
            <a:off x="1029419" y="2539602"/>
            <a:ext cx="5690559" cy="2747159"/>
          </a:xfrm>
          <a:prstGeom prst="rect">
            <a:avLst/>
          </a:prstGeom>
        </p:spPr>
      </p:pic>
    </p:spTree>
    <p:extLst>
      <p:ext uri="{BB962C8B-B14F-4D97-AF65-F5344CB8AC3E}">
        <p14:creationId xmlns:p14="http://schemas.microsoft.com/office/powerpoint/2010/main" val="2638141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174DA-5E4B-4EC4-AE60-89A8A65C774D}"/>
              </a:ext>
            </a:extLst>
          </p:cNvPr>
          <p:cNvSpPr>
            <a:spLocks noGrp="1"/>
          </p:cNvSpPr>
          <p:nvPr>
            <p:ph type="title"/>
          </p:nvPr>
        </p:nvSpPr>
        <p:spPr>
          <a:xfrm>
            <a:off x="435634" y="336370"/>
            <a:ext cx="10515600" cy="1325563"/>
          </a:xfrm>
        </p:spPr>
        <p:txBody>
          <a:bodyPr>
            <a:normAutofit/>
          </a:bodyPr>
          <a:lstStyle/>
          <a:p>
            <a:r>
              <a:rPr lang="en-US" sz="3200" b="1" dirty="0">
                <a:latin typeface="Times New Roman"/>
                <a:cs typeface="Calibri"/>
              </a:rPr>
              <a:t>Responsibilities of Kernel</a:t>
            </a:r>
            <a:endParaRPr lang="en-US" sz="3200" b="1">
              <a:latin typeface="Times New Roman"/>
              <a:cs typeface="Calibri Light"/>
            </a:endParaRPr>
          </a:p>
        </p:txBody>
      </p:sp>
      <p:sp>
        <p:nvSpPr>
          <p:cNvPr id="3" name="Content Placeholder 2">
            <a:extLst>
              <a:ext uri="{FF2B5EF4-FFF2-40B4-BE49-F238E27FC236}">
                <a16:creationId xmlns:a16="http://schemas.microsoft.com/office/drawing/2014/main" id="{75AE3552-96AB-4751-9B2F-CBF69FFCBAAB}"/>
              </a:ext>
            </a:extLst>
          </p:cNvPr>
          <p:cNvSpPr>
            <a:spLocks noGrp="1"/>
          </p:cNvSpPr>
          <p:nvPr>
            <p:ph idx="1"/>
          </p:nvPr>
        </p:nvSpPr>
        <p:spPr>
          <a:xfrm>
            <a:off x="708804" y="1595587"/>
            <a:ext cx="11119449" cy="5098960"/>
          </a:xfrm>
        </p:spPr>
        <p:txBody>
          <a:bodyPr vert="horz" lIns="91440" tIns="45720" rIns="91440" bIns="45720" rtlCol="0" anchor="t">
            <a:normAutofit/>
          </a:bodyPr>
          <a:lstStyle/>
          <a:p>
            <a:pPr marL="0" indent="0" algn="just">
              <a:buNone/>
            </a:pPr>
            <a:r>
              <a:rPr lang="en-US" dirty="0">
                <a:latin typeface="Times New Roman"/>
                <a:ea typeface="+mn-lt"/>
                <a:cs typeface="+mn-lt"/>
              </a:rPr>
              <a:t> </a:t>
            </a:r>
            <a:r>
              <a:rPr lang="en-US" b="1" dirty="0">
                <a:latin typeface="Times New Roman"/>
                <a:ea typeface="+mn-lt"/>
                <a:cs typeface="+mn-lt"/>
              </a:rPr>
              <a:t>1. Central Processing Unit</a:t>
            </a:r>
            <a:endParaRPr lang="en-US"/>
          </a:p>
          <a:p>
            <a:pPr marL="0" indent="0" algn="just">
              <a:buNone/>
            </a:pPr>
            <a:r>
              <a:rPr lang="en-US" dirty="0">
                <a:latin typeface="Times New Roman"/>
                <a:ea typeface="+mn-lt"/>
                <a:cs typeface="+mn-lt"/>
              </a:rPr>
              <a:t> The Kernel takes responsibility for deciding at any time which of the many running programs should be allocated to the processors</a:t>
            </a:r>
          </a:p>
          <a:p>
            <a:pPr marL="0" indent="0" algn="just">
              <a:buNone/>
            </a:pPr>
            <a:endParaRPr lang="en-US" dirty="0">
              <a:latin typeface="Times New Roman"/>
              <a:ea typeface="+mn-lt"/>
              <a:cs typeface="+mn-lt"/>
            </a:endParaRPr>
          </a:p>
          <a:p>
            <a:pPr marL="0" indent="0" algn="just">
              <a:buNone/>
            </a:pPr>
            <a:r>
              <a:rPr lang="en-US" b="1" dirty="0">
                <a:latin typeface="Times New Roman"/>
                <a:ea typeface="+mn-lt"/>
                <a:cs typeface="+mn-lt"/>
              </a:rPr>
              <a:t>2. Random Access Memory</a:t>
            </a:r>
          </a:p>
          <a:p>
            <a:pPr marL="0" indent="0" algn="just">
              <a:buNone/>
            </a:pPr>
            <a:r>
              <a:rPr lang="en-US" dirty="0">
                <a:latin typeface="Times New Roman"/>
                <a:ea typeface="+mn-lt"/>
                <a:cs typeface="+mn-lt"/>
              </a:rPr>
              <a:t>Random Access memory is used to store both program instructions and data. Often multiple programs will want access to memory, frequently demanding more memory than the computer has available. The Kernel is responsible for deciding which memory each process can use, and determining what to do when not enough memory is available</a:t>
            </a:r>
            <a:endParaRPr lang="en-US">
              <a:latin typeface="Times New Roman"/>
              <a:cs typeface="Times New Roman"/>
            </a:endParaRPr>
          </a:p>
          <a:p>
            <a:pPr marL="0" indent="0" algn="just">
              <a:buNone/>
            </a:pPr>
            <a:endParaRPr lang="en-US">
              <a:latin typeface="Times New Roman"/>
              <a:cs typeface="Calibri" panose="020F0502020204030204"/>
            </a:endParaRPr>
          </a:p>
        </p:txBody>
      </p:sp>
      <p:pic>
        <p:nvPicPr>
          <p:cNvPr id="5" name="Picture 4" descr="A picture containing text, clipart&#10;&#10;Description automatically generated">
            <a:extLst>
              <a:ext uri="{FF2B5EF4-FFF2-40B4-BE49-F238E27FC236}">
                <a16:creationId xmlns:a16="http://schemas.microsoft.com/office/drawing/2014/main" id="{AFCB3B16-EBD2-44D8-8EB0-FEC81D667F43}"/>
              </a:ext>
            </a:extLst>
          </p:cNvPr>
          <p:cNvPicPr>
            <a:picLocks noChangeAspect="1"/>
          </p:cNvPicPr>
          <p:nvPr/>
        </p:nvPicPr>
        <p:blipFill>
          <a:blip r:embed="rId2"/>
          <a:stretch>
            <a:fillRect/>
          </a:stretch>
        </p:blipFill>
        <p:spPr>
          <a:xfrm>
            <a:off x="10966677" y="334056"/>
            <a:ext cx="1057275" cy="1095375"/>
          </a:xfrm>
          <a:prstGeom prst="rect">
            <a:avLst/>
          </a:prstGeom>
        </p:spPr>
      </p:pic>
    </p:spTree>
    <p:extLst>
      <p:ext uri="{BB962C8B-B14F-4D97-AF65-F5344CB8AC3E}">
        <p14:creationId xmlns:p14="http://schemas.microsoft.com/office/powerpoint/2010/main" val="712459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174DA-5E4B-4EC4-AE60-89A8A65C774D}"/>
              </a:ext>
            </a:extLst>
          </p:cNvPr>
          <p:cNvSpPr>
            <a:spLocks noGrp="1"/>
          </p:cNvSpPr>
          <p:nvPr>
            <p:ph type="title"/>
          </p:nvPr>
        </p:nvSpPr>
        <p:spPr>
          <a:xfrm>
            <a:off x="838200" y="494521"/>
            <a:ext cx="10515600" cy="1325563"/>
          </a:xfrm>
        </p:spPr>
        <p:txBody>
          <a:bodyPr/>
          <a:lstStyle/>
          <a:p>
            <a:r>
              <a:rPr lang="en-US" sz="3200" b="1" dirty="0">
                <a:latin typeface="Times New Roman"/>
                <a:cs typeface="Times New Roman"/>
              </a:rPr>
              <a:t>Responsibilities of Kernel (Cont.) </a:t>
            </a:r>
            <a:endParaRPr lang="en-US" sz="3200" dirty="0">
              <a:ea typeface="+mj-lt"/>
              <a:cs typeface="+mj-lt"/>
            </a:endParaRPr>
          </a:p>
          <a:p>
            <a:endParaRPr lang="en-US" sz="3200" dirty="0">
              <a:cs typeface="Calibri Light"/>
            </a:endParaRPr>
          </a:p>
        </p:txBody>
      </p:sp>
      <p:sp>
        <p:nvSpPr>
          <p:cNvPr id="3" name="Content Placeholder 2">
            <a:extLst>
              <a:ext uri="{FF2B5EF4-FFF2-40B4-BE49-F238E27FC236}">
                <a16:creationId xmlns:a16="http://schemas.microsoft.com/office/drawing/2014/main" id="{75AE3552-96AB-4751-9B2F-CBF69FFCBAAB}"/>
              </a:ext>
            </a:extLst>
          </p:cNvPr>
          <p:cNvSpPr>
            <a:spLocks noGrp="1"/>
          </p:cNvSpPr>
          <p:nvPr>
            <p:ph idx="1"/>
          </p:nvPr>
        </p:nvSpPr>
        <p:spPr>
          <a:xfrm>
            <a:off x="694426" y="1825625"/>
            <a:ext cx="11176958" cy="4351338"/>
          </a:xfrm>
        </p:spPr>
        <p:txBody>
          <a:bodyPr vert="horz" lIns="91440" tIns="45720" rIns="91440" bIns="45720" rtlCol="0" anchor="t">
            <a:normAutofit fontScale="92500" lnSpcReduction="20000"/>
          </a:bodyPr>
          <a:lstStyle/>
          <a:p>
            <a:pPr marL="0" indent="0" algn="just">
              <a:buNone/>
            </a:pPr>
            <a:r>
              <a:rPr lang="en-US" b="1" dirty="0">
                <a:latin typeface="Times New Roman"/>
                <a:ea typeface="+mn-lt"/>
                <a:cs typeface="Times New Roman"/>
              </a:rPr>
              <a:t>3. Input/output Devices </a:t>
            </a:r>
            <a:endParaRPr lang="en-US" dirty="0">
              <a:ea typeface="+mn-lt"/>
              <a:cs typeface="+mn-lt"/>
            </a:endParaRPr>
          </a:p>
          <a:p>
            <a:pPr marL="0" indent="0" algn="just">
              <a:buNone/>
            </a:pPr>
            <a:r>
              <a:rPr lang="en-US" dirty="0">
                <a:latin typeface="Times New Roman"/>
                <a:ea typeface="+mn-lt"/>
                <a:cs typeface="Times New Roman"/>
              </a:rPr>
              <a:t>The Kernel allocates requests from applications to perform I/O to an appropriate device and provides convenient methods for using the device.</a:t>
            </a:r>
            <a:endParaRPr lang="en-US" dirty="0">
              <a:ea typeface="+mn-lt"/>
              <a:cs typeface="+mn-lt"/>
            </a:endParaRPr>
          </a:p>
          <a:p>
            <a:pPr marL="0" indent="0" algn="just">
              <a:buNone/>
            </a:pPr>
            <a:endParaRPr lang="en-US" b="1" dirty="0">
              <a:latin typeface="Times New Roman"/>
              <a:ea typeface="+mn-lt"/>
              <a:cs typeface="+mn-lt"/>
            </a:endParaRPr>
          </a:p>
          <a:p>
            <a:pPr marL="0" indent="0" algn="just">
              <a:buNone/>
            </a:pPr>
            <a:r>
              <a:rPr lang="en-US" b="1" dirty="0">
                <a:latin typeface="Times New Roman"/>
                <a:ea typeface="+mn-lt"/>
                <a:cs typeface="+mn-lt"/>
              </a:rPr>
              <a:t>4. Memory Management </a:t>
            </a:r>
            <a:endParaRPr lang="en-US" dirty="0">
              <a:latin typeface="Times New Roman"/>
              <a:cs typeface="Calibri" panose="020F0502020204030204"/>
            </a:endParaRPr>
          </a:p>
          <a:p>
            <a:pPr marL="0" indent="0" algn="just">
              <a:buNone/>
            </a:pPr>
            <a:r>
              <a:rPr lang="en-US" dirty="0">
                <a:latin typeface="Times New Roman"/>
                <a:ea typeface="+mn-lt"/>
                <a:cs typeface="+mn-lt"/>
              </a:rPr>
              <a:t>The Kernel has full access to the system's memory and must allow processes to safely access this memory as they require it</a:t>
            </a:r>
            <a:endParaRPr lang="en-US">
              <a:latin typeface="Times New Roman"/>
              <a:cs typeface="Calibri" panose="020F0502020204030204"/>
            </a:endParaRPr>
          </a:p>
          <a:p>
            <a:pPr marL="0" indent="0" algn="just">
              <a:buNone/>
            </a:pPr>
            <a:endParaRPr lang="en-US" dirty="0">
              <a:latin typeface="Times New Roman"/>
              <a:ea typeface="+mn-lt"/>
              <a:cs typeface="+mn-lt"/>
            </a:endParaRPr>
          </a:p>
          <a:p>
            <a:pPr marL="0" indent="0" algn="just">
              <a:buNone/>
            </a:pPr>
            <a:r>
              <a:rPr lang="en-US" b="1" dirty="0">
                <a:latin typeface="Times New Roman"/>
                <a:ea typeface="+mn-lt"/>
                <a:cs typeface="+mn-lt"/>
              </a:rPr>
              <a:t>5. Device Management</a:t>
            </a:r>
          </a:p>
          <a:p>
            <a:pPr marL="0" indent="0" algn="just">
              <a:buNone/>
            </a:pPr>
            <a:r>
              <a:rPr lang="en-US" dirty="0">
                <a:latin typeface="Times New Roman"/>
                <a:ea typeface="+mn-lt"/>
                <a:cs typeface="+mn-lt"/>
              </a:rPr>
              <a:t> A Kernel must maintain a list of available devices. This list may be known in advance configured by the user or detected by the operating system at run time (normally called plug and play)</a:t>
            </a:r>
            <a:endParaRPr lang="en-US">
              <a:latin typeface="Times New Roman"/>
              <a:cs typeface="Calibri" panose="020F0502020204030204"/>
            </a:endParaRPr>
          </a:p>
        </p:txBody>
      </p:sp>
      <p:pic>
        <p:nvPicPr>
          <p:cNvPr id="5" name="Picture 4" descr="A picture containing text, clipart&#10;&#10;Description automatically generated">
            <a:extLst>
              <a:ext uri="{FF2B5EF4-FFF2-40B4-BE49-F238E27FC236}">
                <a16:creationId xmlns:a16="http://schemas.microsoft.com/office/drawing/2014/main" id="{AFCB3B16-EBD2-44D8-8EB0-FEC81D667F43}"/>
              </a:ext>
            </a:extLst>
          </p:cNvPr>
          <p:cNvPicPr>
            <a:picLocks noChangeAspect="1"/>
          </p:cNvPicPr>
          <p:nvPr/>
        </p:nvPicPr>
        <p:blipFill>
          <a:blip r:embed="rId2"/>
          <a:stretch>
            <a:fillRect/>
          </a:stretch>
        </p:blipFill>
        <p:spPr>
          <a:xfrm>
            <a:off x="10966677" y="334056"/>
            <a:ext cx="1057275" cy="1095375"/>
          </a:xfrm>
          <a:prstGeom prst="rect">
            <a:avLst/>
          </a:prstGeom>
        </p:spPr>
      </p:pic>
    </p:spTree>
    <p:extLst>
      <p:ext uri="{BB962C8B-B14F-4D97-AF65-F5344CB8AC3E}">
        <p14:creationId xmlns:p14="http://schemas.microsoft.com/office/powerpoint/2010/main" val="333820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174DA-5E4B-4EC4-AE60-89A8A65C774D}"/>
              </a:ext>
            </a:extLst>
          </p:cNvPr>
          <p:cNvSpPr>
            <a:spLocks noGrp="1"/>
          </p:cNvSpPr>
          <p:nvPr>
            <p:ph type="title"/>
          </p:nvPr>
        </p:nvSpPr>
        <p:spPr>
          <a:xfrm>
            <a:off x="1136428" y="627564"/>
            <a:ext cx="7474172" cy="1325563"/>
          </a:xfrm>
        </p:spPr>
        <p:txBody>
          <a:bodyPr>
            <a:normAutofit/>
          </a:bodyPr>
          <a:lstStyle/>
          <a:p>
            <a:r>
              <a:rPr lang="en-US" b="1">
                <a:latin typeface="Times New Roman"/>
                <a:cs typeface="Calibri"/>
              </a:rPr>
              <a:t>Features provided by Kernel</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75AE3552-96AB-4751-9B2F-CBF69FFCBAAB}"/>
              </a:ext>
            </a:extLst>
          </p:cNvPr>
          <p:cNvSpPr>
            <a:spLocks noGrp="1"/>
          </p:cNvSpPr>
          <p:nvPr>
            <p:ph idx="1"/>
          </p:nvPr>
        </p:nvSpPr>
        <p:spPr>
          <a:xfrm>
            <a:off x="1136429" y="2278173"/>
            <a:ext cx="6467867" cy="3450613"/>
          </a:xfrm>
        </p:spPr>
        <p:txBody>
          <a:bodyPr vert="horz" lIns="91440" tIns="45720" rIns="91440" bIns="45720" rtlCol="0" anchor="ctr">
            <a:normAutofit/>
          </a:bodyPr>
          <a:lstStyle/>
          <a:p>
            <a:pPr marL="0" indent="0">
              <a:buNone/>
            </a:pPr>
            <a:r>
              <a:rPr lang="en-US" sz="2200">
                <a:latin typeface="Times New Roman"/>
                <a:ea typeface="+mn-lt"/>
                <a:cs typeface="+mn-lt"/>
              </a:rPr>
              <a:t>1) Scheduling of Process (Dispatching)</a:t>
            </a:r>
          </a:p>
          <a:p>
            <a:pPr marL="0" indent="0">
              <a:buNone/>
            </a:pPr>
            <a:r>
              <a:rPr lang="en-US" sz="2200">
                <a:latin typeface="Times New Roman"/>
                <a:ea typeface="+mn-lt"/>
                <a:cs typeface="+mn-lt"/>
              </a:rPr>
              <a:t>2) Inter-process Communication </a:t>
            </a:r>
          </a:p>
          <a:p>
            <a:pPr marL="0" indent="0">
              <a:buNone/>
            </a:pPr>
            <a:r>
              <a:rPr lang="en-US" sz="2200">
                <a:latin typeface="Times New Roman"/>
                <a:ea typeface="+mn-lt"/>
                <a:cs typeface="+mn-lt"/>
              </a:rPr>
              <a:t>3) Process Synchronization </a:t>
            </a:r>
          </a:p>
          <a:p>
            <a:pPr marL="0" indent="0">
              <a:buNone/>
            </a:pPr>
            <a:r>
              <a:rPr lang="en-US" sz="2200">
                <a:latin typeface="Times New Roman"/>
                <a:ea typeface="+mn-lt"/>
                <a:cs typeface="+mn-lt"/>
              </a:rPr>
              <a:t>4) Context Switching </a:t>
            </a:r>
          </a:p>
          <a:p>
            <a:pPr marL="0" indent="0">
              <a:buNone/>
            </a:pPr>
            <a:r>
              <a:rPr lang="en-US" sz="2200">
                <a:latin typeface="Times New Roman"/>
                <a:ea typeface="+mn-lt"/>
                <a:cs typeface="+mn-lt"/>
              </a:rPr>
              <a:t>5) Manipulation of Process Control Blocks</a:t>
            </a:r>
          </a:p>
          <a:p>
            <a:pPr marL="0" indent="0">
              <a:buNone/>
            </a:pPr>
            <a:r>
              <a:rPr lang="en-US" sz="2200">
                <a:latin typeface="Times New Roman"/>
                <a:ea typeface="+mn-lt"/>
                <a:cs typeface="+mn-lt"/>
              </a:rPr>
              <a:t>6) Interrupt Handling </a:t>
            </a:r>
          </a:p>
          <a:p>
            <a:pPr marL="0" indent="0">
              <a:buNone/>
            </a:pPr>
            <a:r>
              <a:rPr lang="en-US" sz="2200">
                <a:latin typeface="Times New Roman"/>
                <a:ea typeface="+mn-lt"/>
                <a:cs typeface="+mn-lt"/>
              </a:rPr>
              <a:t>7) Process Creation and Destruction </a:t>
            </a:r>
          </a:p>
          <a:p>
            <a:pPr marL="0" indent="0">
              <a:buNone/>
            </a:pPr>
            <a:r>
              <a:rPr lang="en-US" sz="2200">
                <a:latin typeface="Times New Roman"/>
                <a:ea typeface="+mn-lt"/>
                <a:cs typeface="+mn-lt"/>
              </a:rPr>
              <a:t>8) Process Suspension and Resumption</a:t>
            </a:r>
            <a:endParaRPr lang="en-US" sz="2200">
              <a:latin typeface="Times New Roman"/>
              <a:cs typeface="Calibri" panose="020F0502020204030204"/>
            </a:endParaRP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rgbClr val="4A6F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rgbClr val="FFBB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text, clipart&#10;&#10;Description automatically generated">
            <a:extLst>
              <a:ext uri="{FF2B5EF4-FFF2-40B4-BE49-F238E27FC236}">
                <a16:creationId xmlns:a16="http://schemas.microsoft.com/office/drawing/2014/main" id="{AFCB3B16-EBD2-44D8-8EB0-FEC81D667F43}"/>
              </a:ext>
            </a:extLst>
          </p:cNvPr>
          <p:cNvPicPr>
            <a:picLocks noChangeAspect="1"/>
          </p:cNvPicPr>
          <p:nvPr/>
        </p:nvPicPr>
        <p:blipFill>
          <a:blip r:embed="rId2"/>
          <a:stretch>
            <a:fillRect/>
          </a:stretch>
        </p:blipFill>
        <p:spPr>
          <a:xfrm>
            <a:off x="9434959" y="2857501"/>
            <a:ext cx="1101053" cy="1142998"/>
          </a:xfrm>
          <a:prstGeom prst="rect">
            <a:avLst/>
          </a:prstGeom>
        </p:spPr>
      </p:pic>
    </p:spTree>
    <p:extLst>
      <p:ext uri="{BB962C8B-B14F-4D97-AF65-F5344CB8AC3E}">
        <p14:creationId xmlns:p14="http://schemas.microsoft.com/office/powerpoint/2010/main" val="3983701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C2EE5-D940-4937-BD48-7AC6005503B8}"/>
              </a:ext>
            </a:extLst>
          </p:cNvPr>
          <p:cNvSpPr>
            <a:spLocks noGrp="1"/>
          </p:cNvSpPr>
          <p:nvPr>
            <p:ph type="title"/>
          </p:nvPr>
        </p:nvSpPr>
        <p:spPr/>
        <p:txBody>
          <a:bodyPr>
            <a:normAutofit/>
          </a:bodyPr>
          <a:lstStyle/>
          <a:p>
            <a:r>
              <a:rPr lang="en-US" sz="3200" b="1" dirty="0">
                <a:latin typeface="Times New Roman"/>
                <a:cs typeface="Calibri"/>
              </a:rPr>
              <a:t>Bootstrap Program</a:t>
            </a:r>
            <a:endParaRPr lang="en-US" sz="3200">
              <a:latin typeface="Times New Roman"/>
              <a:cs typeface="Times New Roman"/>
            </a:endParaRPr>
          </a:p>
        </p:txBody>
      </p:sp>
      <p:sp>
        <p:nvSpPr>
          <p:cNvPr id="3" name="Content Placeholder 2">
            <a:extLst>
              <a:ext uri="{FF2B5EF4-FFF2-40B4-BE49-F238E27FC236}">
                <a16:creationId xmlns:a16="http://schemas.microsoft.com/office/drawing/2014/main" id="{A8AD5099-EE59-434C-944D-BFD12D4351B3}"/>
              </a:ext>
            </a:extLst>
          </p:cNvPr>
          <p:cNvSpPr>
            <a:spLocks noGrp="1"/>
          </p:cNvSpPr>
          <p:nvPr>
            <p:ph idx="1"/>
          </p:nvPr>
        </p:nvSpPr>
        <p:spPr>
          <a:xfrm>
            <a:off x="838200" y="1825625"/>
            <a:ext cx="11176958" cy="4351338"/>
          </a:xfrm>
        </p:spPr>
        <p:txBody>
          <a:bodyPr vert="horz" lIns="91440" tIns="45720" rIns="91440" bIns="45720" rtlCol="0" anchor="t">
            <a:normAutofit lnSpcReduction="10000"/>
          </a:bodyPr>
          <a:lstStyle/>
          <a:p>
            <a:pPr algn="just">
              <a:buFont typeface="Wingdings" panose="020B0604020202020204" pitchFamily="34" charset="0"/>
              <a:buChar char="§"/>
            </a:pPr>
            <a:r>
              <a:rPr lang="en-US" dirty="0">
                <a:latin typeface="Times New Roman"/>
                <a:ea typeface="+mn-lt"/>
                <a:cs typeface="+mn-lt"/>
              </a:rPr>
              <a:t>A bootstrap program is the first code that is executed when the computer system is started</a:t>
            </a:r>
            <a:endParaRPr lang="en-US">
              <a:latin typeface="Times New Roman"/>
              <a:cs typeface="Calibri Light"/>
            </a:endParaRPr>
          </a:p>
          <a:p>
            <a:pPr algn="just">
              <a:buFont typeface="Wingdings" panose="020B0604020202020204" pitchFamily="34" charset="0"/>
              <a:buChar char="§"/>
            </a:pPr>
            <a:endParaRPr lang="en-US" dirty="0">
              <a:latin typeface="Times New Roman"/>
              <a:ea typeface="+mn-lt"/>
              <a:cs typeface="+mn-lt"/>
            </a:endParaRPr>
          </a:p>
          <a:p>
            <a:pPr algn="just">
              <a:buFont typeface="Wingdings" panose="020B0604020202020204" pitchFamily="34" charset="0"/>
              <a:buChar char="§"/>
            </a:pPr>
            <a:r>
              <a:rPr lang="en-US" dirty="0">
                <a:latin typeface="Times New Roman"/>
                <a:ea typeface="+mn-lt"/>
                <a:cs typeface="+mn-lt"/>
              </a:rPr>
              <a:t>The entire operating system depends on the bootstrap program to work correctly as it loads the operating system</a:t>
            </a:r>
          </a:p>
          <a:p>
            <a:pPr algn="just">
              <a:buFont typeface="Wingdings" panose="020B0604020202020204" pitchFamily="34" charset="0"/>
              <a:buChar char="§"/>
            </a:pPr>
            <a:endParaRPr lang="en-US" dirty="0">
              <a:latin typeface="Times New Roman"/>
              <a:cs typeface="Calibri"/>
            </a:endParaRPr>
          </a:p>
          <a:p>
            <a:pPr algn="just">
              <a:buFont typeface="Wingdings" panose="020B0604020202020204" pitchFamily="34" charset="0"/>
              <a:buChar char="§"/>
            </a:pPr>
            <a:r>
              <a:rPr lang="en-US" b="1" dirty="0">
                <a:latin typeface="Times New Roman"/>
                <a:ea typeface="+mn-lt"/>
                <a:cs typeface="+mn-lt"/>
              </a:rPr>
              <a:t>Bootstrap program</a:t>
            </a:r>
            <a:r>
              <a:rPr lang="en-US" dirty="0">
                <a:latin typeface="Times New Roman"/>
                <a:ea typeface="+mn-lt"/>
                <a:cs typeface="+mn-lt"/>
              </a:rPr>
              <a:t> is loaded at power-up or reboot</a:t>
            </a:r>
            <a:endParaRPr lang="en-US" dirty="0">
              <a:latin typeface="Times New Roman"/>
              <a:cs typeface="Calibri" panose="020F0502020204030204"/>
            </a:endParaRPr>
          </a:p>
          <a:p>
            <a:pPr marL="971550" lvl="1" indent="-514350" algn="just">
              <a:buAutoNum type="romanLcPeriod"/>
            </a:pPr>
            <a:r>
              <a:rPr lang="en-US" dirty="0">
                <a:latin typeface="Times New Roman"/>
                <a:ea typeface="+mn-lt"/>
                <a:cs typeface="+mn-lt"/>
              </a:rPr>
              <a:t>Typically stored in ROM or EPROM, generally known as </a:t>
            </a:r>
            <a:r>
              <a:rPr lang="en-US" b="1" dirty="0">
                <a:latin typeface="Times New Roman"/>
                <a:ea typeface="+mn-lt"/>
                <a:cs typeface="+mn-lt"/>
              </a:rPr>
              <a:t>firmware</a:t>
            </a:r>
            <a:endParaRPr lang="en-US">
              <a:latin typeface="Times New Roman"/>
              <a:cs typeface="Calibri" panose="020F0502020204030204"/>
            </a:endParaRPr>
          </a:p>
          <a:p>
            <a:pPr marL="971550" lvl="1" indent="-514350" algn="just">
              <a:buAutoNum type="romanLcPeriod"/>
            </a:pPr>
            <a:r>
              <a:rPr lang="en-US" dirty="0">
                <a:latin typeface="Times New Roman"/>
                <a:ea typeface="+mn-lt"/>
                <a:cs typeface="+mn-lt"/>
              </a:rPr>
              <a:t>Initializes all aspects of system</a:t>
            </a:r>
            <a:endParaRPr lang="en-US">
              <a:latin typeface="Times New Roman"/>
              <a:cs typeface="Calibri" panose="020F0502020204030204"/>
            </a:endParaRPr>
          </a:p>
          <a:p>
            <a:pPr marL="971550" lvl="1" indent="-514350" algn="just">
              <a:buAutoNum type="romanLcPeriod"/>
            </a:pPr>
            <a:r>
              <a:rPr lang="en-US" dirty="0">
                <a:latin typeface="Times New Roman"/>
                <a:ea typeface="+mn-lt"/>
                <a:cs typeface="+mn-lt"/>
              </a:rPr>
              <a:t>Loads operating system kernel and starts execution</a:t>
            </a:r>
            <a:endParaRPr lang="en-US">
              <a:latin typeface="Times New Roman"/>
              <a:cs typeface="Calibri"/>
            </a:endParaRPr>
          </a:p>
          <a:p>
            <a:pPr marL="0" indent="0" algn="just">
              <a:buNone/>
            </a:pPr>
            <a:endParaRPr lang="en-US" dirty="0">
              <a:latin typeface="Times New Roman"/>
              <a:cs typeface="Calibri"/>
            </a:endParaRPr>
          </a:p>
        </p:txBody>
      </p:sp>
      <p:pic>
        <p:nvPicPr>
          <p:cNvPr id="5" name="Picture 4" descr="A picture containing text, clipart&#10;&#10;Description automatically generated">
            <a:extLst>
              <a:ext uri="{FF2B5EF4-FFF2-40B4-BE49-F238E27FC236}">
                <a16:creationId xmlns:a16="http://schemas.microsoft.com/office/drawing/2014/main" id="{6A84688C-50EB-465D-8D45-50BEFBA9CA07}"/>
              </a:ext>
            </a:extLst>
          </p:cNvPr>
          <p:cNvPicPr>
            <a:picLocks noChangeAspect="1"/>
          </p:cNvPicPr>
          <p:nvPr/>
        </p:nvPicPr>
        <p:blipFill>
          <a:blip r:embed="rId2"/>
          <a:stretch>
            <a:fillRect/>
          </a:stretch>
        </p:blipFill>
        <p:spPr>
          <a:xfrm>
            <a:off x="10966677" y="334056"/>
            <a:ext cx="1057275" cy="1095375"/>
          </a:xfrm>
          <a:prstGeom prst="rect">
            <a:avLst/>
          </a:prstGeom>
        </p:spPr>
      </p:pic>
    </p:spTree>
    <p:extLst>
      <p:ext uri="{BB962C8B-B14F-4D97-AF65-F5344CB8AC3E}">
        <p14:creationId xmlns:p14="http://schemas.microsoft.com/office/powerpoint/2010/main" val="2250262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2D679-D180-44E4-8314-C94346040211}"/>
              </a:ext>
            </a:extLst>
          </p:cNvPr>
          <p:cNvSpPr>
            <a:spLocks noGrp="1"/>
          </p:cNvSpPr>
          <p:nvPr>
            <p:ph type="title"/>
          </p:nvPr>
        </p:nvSpPr>
        <p:spPr>
          <a:xfrm>
            <a:off x="277483" y="667049"/>
            <a:ext cx="10515600" cy="1325563"/>
          </a:xfrm>
        </p:spPr>
        <p:txBody>
          <a:bodyPr>
            <a:normAutofit/>
          </a:bodyPr>
          <a:lstStyle/>
          <a:p>
            <a:r>
              <a:rPr lang="en-US" sz="3200" b="1" dirty="0">
                <a:latin typeface="Times New Roman"/>
                <a:cs typeface="Times New Roman"/>
              </a:rPr>
              <a:t>Bootstrap Program (Cont.)</a:t>
            </a:r>
            <a:endParaRPr lang="en-US" sz="3200" dirty="0">
              <a:cs typeface="Calibri Light"/>
            </a:endParaRPr>
          </a:p>
        </p:txBody>
      </p:sp>
      <p:pic>
        <p:nvPicPr>
          <p:cNvPr id="5" name="Picture 4" descr="A picture containing text, clipart&#10;&#10;Description automatically generated">
            <a:extLst>
              <a:ext uri="{FF2B5EF4-FFF2-40B4-BE49-F238E27FC236}">
                <a16:creationId xmlns:a16="http://schemas.microsoft.com/office/drawing/2014/main" id="{BE382163-D518-4E3D-B334-7865A67398C0}"/>
              </a:ext>
            </a:extLst>
          </p:cNvPr>
          <p:cNvPicPr>
            <a:picLocks noChangeAspect="1"/>
          </p:cNvPicPr>
          <p:nvPr/>
        </p:nvPicPr>
        <p:blipFill>
          <a:blip r:embed="rId2"/>
          <a:stretch>
            <a:fillRect/>
          </a:stretch>
        </p:blipFill>
        <p:spPr>
          <a:xfrm>
            <a:off x="10966677" y="334056"/>
            <a:ext cx="1057275" cy="1095375"/>
          </a:xfrm>
          <a:prstGeom prst="rect">
            <a:avLst/>
          </a:prstGeom>
        </p:spPr>
      </p:pic>
      <p:pic>
        <p:nvPicPr>
          <p:cNvPr id="8" name="Picture 8" descr="Diagram&#10;&#10;Description automatically generated">
            <a:extLst>
              <a:ext uri="{FF2B5EF4-FFF2-40B4-BE49-F238E27FC236}">
                <a16:creationId xmlns:a16="http://schemas.microsoft.com/office/drawing/2014/main" id="{0812104F-D965-4470-A27D-8DDC5C842FE5}"/>
              </a:ext>
            </a:extLst>
          </p:cNvPr>
          <p:cNvPicPr>
            <a:picLocks noGrp="1" noChangeAspect="1"/>
          </p:cNvPicPr>
          <p:nvPr>
            <p:ph idx="1"/>
          </p:nvPr>
        </p:nvPicPr>
        <p:blipFill>
          <a:blip r:embed="rId3"/>
          <a:stretch>
            <a:fillRect/>
          </a:stretch>
        </p:blipFill>
        <p:spPr>
          <a:xfrm>
            <a:off x="5530413" y="1911889"/>
            <a:ext cx="6666458" cy="4308206"/>
          </a:xfrm>
        </p:spPr>
      </p:pic>
      <p:sp>
        <p:nvSpPr>
          <p:cNvPr id="9" name="TextBox 8">
            <a:extLst>
              <a:ext uri="{FF2B5EF4-FFF2-40B4-BE49-F238E27FC236}">
                <a16:creationId xmlns:a16="http://schemas.microsoft.com/office/drawing/2014/main" id="{CD31B165-F487-417E-8768-659DA6DCFF6C}"/>
              </a:ext>
            </a:extLst>
          </p:cNvPr>
          <p:cNvSpPr txBox="1"/>
          <p:nvPr/>
        </p:nvSpPr>
        <p:spPr>
          <a:xfrm>
            <a:off x="281797" y="2122098"/>
            <a:ext cx="5676181"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
            </a:pPr>
            <a:r>
              <a:rPr lang="en-US" sz="2400" dirty="0">
                <a:latin typeface="Times New Roman"/>
                <a:cs typeface="Arial"/>
              </a:rPr>
              <a:t>The bootstrap program is a part of ROM which is the non-volatile memory</a:t>
            </a:r>
            <a:endParaRPr lang="en-US" sz="2400">
              <a:latin typeface="Times New Roman"/>
              <a:cs typeface="Calibri" panose="020F0502020204030204"/>
            </a:endParaRPr>
          </a:p>
          <a:p>
            <a:pPr marL="342900" indent="-342900" algn="just">
              <a:buFont typeface="Wingdings"/>
              <a:buChar char="§"/>
            </a:pPr>
            <a:endParaRPr lang="en-US" sz="2400" dirty="0">
              <a:latin typeface="Times New Roman"/>
              <a:cs typeface="Arial"/>
            </a:endParaRPr>
          </a:p>
          <a:p>
            <a:pPr marL="342900" indent="-342900" algn="just">
              <a:buFont typeface="Wingdings"/>
              <a:buChar char="§"/>
            </a:pPr>
            <a:r>
              <a:rPr lang="en-US" sz="2400" dirty="0">
                <a:latin typeface="Times New Roman"/>
                <a:cs typeface="Arial"/>
              </a:rPr>
              <a:t>The operating system is loaded into the RAM by the bootstrap program after the start of the computer system</a:t>
            </a:r>
            <a:endParaRPr lang="en-US" sz="2400">
              <a:latin typeface="Times New Roman"/>
              <a:cs typeface="Calibri"/>
            </a:endParaRPr>
          </a:p>
          <a:p>
            <a:pPr marL="342900" indent="-342900" algn="just">
              <a:buFont typeface="Wingdings"/>
              <a:buChar char="§"/>
            </a:pPr>
            <a:endParaRPr lang="en-US" sz="2400" dirty="0">
              <a:latin typeface="Times New Roman"/>
              <a:cs typeface="Arial"/>
            </a:endParaRPr>
          </a:p>
          <a:p>
            <a:pPr marL="342900" indent="-342900" algn="just">
              <a:buFont typeface="Wingdings"/>
              <a:buChar char="§"/>
            </a:pPr>
            <a:r>
              <a:rPr lang="en-US" sz="2400" dirty="0">
                <a:latin typeface="Times New Roman"/>
                <a:cs typeface="Arial"/>
              </a:rPr>
              <a:t>Then the operating system starts the device drivers</a:t>
            </a:r>
            <a:endParaRPr lang="en-US" sz="2400">
              <a:latin typeface="Times New Roman"/>
              <a:cs typeface="Calibri"/>
            </a:endParaRPr>
          </a:p>
        </p:txBody>
      </p:sp>
    </p:spTree>
    <p:extLst>
      <p:ext uri="{BB962C8B-B14F-4D97-AF65-F5344CB8AC3E}">
        <p14:creationId xmlns:p14="http://schemas.microsoft.com/office/powerpoint/2010/main" val="4209618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2D679-D180-44E4-8314-C94346040211}"/>
              </a:ext>
            </a:extLst>
          </p:cNvPr>
          <p:cNvSpPr>
            <a:spLocks noGrp="1"/>
          </p:cNvSpPr>
          <p:nvPr>
            <p:ph type="title"/>
          </p:nvPr>
        </p:nvSpPr>
        <p:spPr/>
        <p:txBody>
          <a:bodyPr>
            <a:normAutofit/>
          </a:bodyPr>
          <a:lstStyle/>
          <a:p>
            <a:r>
              <a:rPr lang="en-US" sz="3200" b="1" dirty="0">
                <a:latin typeface="Times New Roman"/>
                <a:ea typeface="+mj-lt"/>
                <a:cs typeface="+mj-lt"/>
              </a:rPr>
              <a:t>Computer System Organization</a:t>
            </a:r>
            <a:endParaRPr lang="en-US" sz="3200" b="1">
              <a:latin typeface="Times New Roman"/>
              <a:cs typeface="Calibri Light"/>
            </a:endParaRPr>
          </a:p>
        </p:txBody>
      </p:sp>
      <p:sp>
        <p:nvSpPr>
          <p:cNvPr id="3" name="Content Placeholder 2">
            <a:extLst>
              <a:ext uri="{FF2B5EF4-FFF2-40B4-BE49-F238E27FC236}">
                <a16:creationId xmlns:a16="http://schemas.microsoft.com/office/drawing/2014/main" id="{FA4FD7DC-D2B1-48BF-88A2-F0A7E4BF3673}"/>
              </a:ext>
            </a:extLst>
          </p:cNvPr>
          <p:cNvSpPr>
            <a:spLocks noGrp="1"/>
          </p:cNvSpPr>
          <p:nvPr>
            <p:ph idx="1"/>
          </p:nvPr>
        </p:nvSpPr>
        <p:spPr>
          <a:xfrm>
            <a:off x="838200" y="1609965"/>
            <a:ext cx="10515600" cy="4351338"/>
          </a:xfrm>
        </p:spPr>
        <p:txBody>
          <a:bodyPr vert="horz" lIns="91440" tIns="45720" rIns="91440" bIns="45720" rtlCol="0" anchor="t">
            <a:normAutofit/>
          </a:bodyPr>
          <a:lstStyle/>
          <a:p>
            <a:pPr marL="0" indent="0">
              <a:buNone/>
            </a:pPr>
            <a:r>
              <a:rPr lang="en-US" sz="2600" dirty="0">
                <a:latin typeface="Times New Roman"/>
                <a:ea typeface="+mn-lt"/>
                <a:cs typeface="+mn-lt"/>
              </a:rPr>
              <a:t>Computer-system operation:</a:t>
            </a:r>
            <a:endParaRPr lang="en-US" sz="2600" dirty="0">
              <a:latin typeface="Times New Roman"/>
              <a:cs typeface="Calibri" panose="020F0502020204030204"/>
            </a:endParaRPr>
          </a:p>
          <a:p>
            <a:pPr marL="457200" lvl="1" indent="0">
              <a:buNone/>
            </a:pPr>
            <a:r>
              <a:rPr lang="en-US" sz="2600" dirty="0">
                <a:latin typeface="Times New Roman"/>
                <a:ea typeface="+mn-lt"/>
                <a:cs typeface="+mn-lt"/>
              </a:rPr>
              <a:t>- One or more CPUs, device controllers connect through common bus providing access to shared memory</a:t>
            </a:r>
          </a:p>
          <a:p>
            <a:pPr marL="457200" lvl="1" indent="0">
              <a:buNone/>
            </a:pPr>
            <a:r>
              <a:rPr lang="en-US" sz="2600" dirty="0">
                <a:latin typeface="Times New Roman"/>
                <a:ea typeface="+mn-lt"/>
                <a:cs typeface="+mn-lt"/>
              </a:rPr>
              <a:t>- Concurrent execution of CPUs and devices competing for memory cycles</a:t>
            </a:r>
            <a:endParaRPr lang="en-US" sz="2600">
              <a:latin typeface="Times New Roman"/>
              <a:cs typeface="Calibri" panose="020F0502020204030204"/>
            </a:endParaRPr>
          </a:p>
          <a:p>
            <a:pPr lvl="1"/>
            <a:endParaRPr lang="en-US" sz="2600" dirty="0">
              <a:latin typeface="Times New Roman"/>
              <a:cs typeface="Calibri"/>
            </a:endParaRPr>
          </a:p>
          <a:p>
            <a:endParaRPr lang="en-US" sz="2600" dirty="0">
              <a:latin typeface="Times New Roman"/>
              <a:cs typeface="Calibri"/>
            </a:endParaRPr>
          </a:p>
        </p:txBody>
      </p:sp>
      <p:pic>
        <p:nvPicPr>
          <p:cNvPr id="5" name="Picture 4" descr="A picture containing text, clipart&#10;&#10;Description automatically generated">
            <a:extLst>
              <a:ext uri="{FF2B5EF4-FFF2-40B4-BE49-F238E27FC236}">
                <a16:creationId xmlns:a16="http://schemas.microsoft.com/office/drawing/2014/main" id="{BE382163-D518-4E3D-B334-7865A67398C0}"/>
              </a:ext>
            </a:extLst>
          </p:cNvPr>
          <p:cNvPicPr>
            <a:picLocks noChangeAspect="1"/>
          </p:cNvPicPr>
          <p:nvPr/>
        </p:nvPicPr>
        <p:blipFill>
          <a:blip r:embed="rId2"/>
          <a:stretch>
            <a:fillRect/>
          </a:stretch>
        </p:blipFill>
        <p:spPr>
          <a:xfrm>
            <a:off x="10966677" y="334056"/>
            <a:ext cx="1057275" cy="1095375"/>
          </a:xfrm>
          <a:prstGeom prst="rect">
            <a:avLst/>
          </a:prstGeom>
        </p:spPr>
      </p:pic>
      <p:pic>
        <p:nvPicPr>
          <p:cNvPr id="4" name="Picture 5" descr="Diagram&#10;&#10;Description automatically generated">
            <a:extLst>
              <a:ext uri="{FF2B5EF4-FFF2-40B4-BE49-F238E27FC236}">
                <a16:creationId xmlns:a16="http://schemas.microsoft.com/office/drawing/2014/main" id="{64E5F948-576E-4F16-A20A-222C6C62AFBD}"/>
              </a:ext>
            </a:extLst>
          </p:cNvPr>
          <p:cNvPicPr>
            <a:picLocks noChangeAspect="1"/>
          </p:cNvPicPr>
          <p:nvPr/>
        </p:nvPicPr>
        <p:blipFill>
          <a:blip r:embed="rId3"/>
          <a:stretch>
            <a:fillRect/>
          </a:stretch>
        </p:blipFill>
        <p:spPr>
          <a:xfrm>
            <a:off x="3042249" y="3786649"/>
            <a:ext cx="6481313" cy="3065946"/>
          </a:xfrm>
          <a:prstGeom prst="rect">
            <a:avLst/>
          </a:prstGeom>
        </p:spPr>
      </p:pic>
    </p:spTree>
    <p:extLst>
      <p:ext uri="{BB962C8B-B14F-4D97-AF65-F5344CB8AC3E}">
        <p14:creationId xmlns:p14="http://schemas.microsoft.com/office/powerpoint/2010/main" val="2927616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2D679-D180-44E4-8314-C94346040211}"/>
              </a:ext>
            </a:extLst>
          </p:cNvPr>
          <p:cNvSpPr>
            <a:spLocks noGrp="1"/>
          </p:cNvSpPr>
          <p:nvPr>
            <p:ph type="title"/>
          </p:nvPr>
        </p:nvSpPr>
        <p:spPr>
          <a:xfrm>
            <a:off x="532579" y="641941"/>
            <a:ext cx="7474172" cy="1325563"/>
          </a:xfrm>
        </p:spPr>
        <p:txBody>
          <a:bodyPr>
            <a:normAutofit/>
          </a:bodyPr>
          <a:lstStyle/>
          <a:p>
            <a:r>
              <a:rPr lang="en-US" b="1">
                <a:latin typeface="Times New Roman"/>
                <a:ea typeface="+mj-lt"/>
                <a:cs typeface="+mj-lt"/>
              </a:rPr>
              <a:t>Computer-System Operation</a:t>
            </a:r>
            <a:endParaRPr lang="en-US">
              <a:latin typeface="Times New Roman"/>
              <a:cs typeface="Times New Roman"/>
            </a:endParaRPr>
          </a:p>
        </p:txBody>
      </p:sp>
      <p:sp>
        <p:nvSpPr>
          <p:cNvPr id="3" name="Content Placeholder 2">
            <a:extLst>
              <a:ext uri="{FF2B5EF4-FFF2-40B4-BE49-F238E27FC236}">
                <a16:creationId xmlns:a16="http://schemas.microsoft.com/office/drawing/2014/main" id="{FA4FD7DC-D2B1-48BF-88A2-F0A7E4BF3673}"/>
              </a:ext>
            </a:extLst>
          </p:cNvPr>
          <p:cNvSpPr>
            <a:spLocks noGrp="1"/>
          </p:cNvSpPr>
          <p:nvPr>
            <p:ph idx="1"/>
          </p:nvPr>
        </p:nvSpPr>
        <p:spPr>
          <a:xfrm>
            <a:off x="618844" y="2191909"/>
            <a:ext cx="8034998" cy="3450613"/>
          </a:xfrm>
        </p:spPr>
        <p:txBody>
          <a:bodyPr vert="horz" lIns="91440" tIns="45720" rIns="91440" bIns="45720" rtlCol="0" anchor="ctr">
            <a:noAutofit/>
          </a:bodyPr>
          <a:lstStyle/>
          <a:p>
            <a:pPr algn="just"/>
            <a:r>
              <a:rPr lang="en-US" sz="2400" dirty="0">
                <a:latin typeface="Times New Roman"/>
                <a:ea typeface="+mn-lt"/>
                <a:cs typeface="+mn-lt"/>
              </a:rPr>
              <a:t>I/O devices and the CPU can execute concurrently</a:t>
            </a:r>
            <a:endParaRPr lang="en-US"/>
          </a:p>
          <a:p>
            <a:pPr algn="just"/>
            <a:r>
              <a:rPr lang="en-US" sz="2400" dirty="0">
                <a:latin typeface="Times New Roman"/>
                <a:ea typeface="+mn-lt"/>
                <a:cs typeface="+mn-lt"/>
              </a:rPr>
              <a:t>Each device controller is in charge of a particular device type</a:t>
            </a:r>
          </a:p>
          <a:p>
            <a:pPr algn="just"/>
            <a:r>
              <a:rPr lang="en-US" sz="2400" dirty="0">
                <a:latin typeface="Times New Roman"/>
                <a:ea typeface="+mn-lt"/>
                <a:cs typeface="+mn-lt"/>
              </a:rPr>
              <a:t>Each device controller has a local buffer</a:t>
            </a:r>
          </a:p>
          <a:p>
            <a:pPr algn="just"/>
            <a:r>
              <a:rPr lang="en-US" sz="2400" dirty="0">
                <a:latin typeface="Times New Roman"/>
                <a:ea typeface="+mn-lt"/>
                <a:cs typeface="+mn-lt"/>
              </a:rPr>
              <a:t>CPU moves data from/to main memory to/from local buffers</a:t>
            </a:r>
          </a:p>
          <a:p>
            <a:pPr algn="just"/>
            <a:r>
              <a:rPr lang="en-US" sz="2400" dirty="0">
                <a:latin typeface="Times New Roman"/>
                <a:ea typeface="+mn-lt"/>
                <a:cs typeface="+mn-lt"/>
              </a:rPr>
              <a:t>I/O is from the device to local buffer of controller</a:t>
            </a:r>
          </a:p>
          <a:p>
            <a:pPr algn="just"/>
            <a:r>
              <a:rPr lang="en-US" sz="2400" dirty="0">
                <a:latin typeface="Times New Roman"/>
                <a:ea typeface="+mn-lt"/>
                <a:cs typeface="+mn-lt"/>
              </a:rPr>
              <a:t>Device controller informs CPU that it has finished its operation by causing an </a:t>
            </a:r>
            <a:r>
              <a:rPr lang="en-US" sz="2400" b="1" dirty="0">
                <a:latin typeface="Times New Roman"/>
                <a:ea typeface="+mn-lt"/>
                <a:cs typeface="+mn-lt"/>
              </a:rPr>
              <a:t>interrupt</a:t>
            </a:r>
          </a:p>
          <a:p>
            <a:pPr algn="just"/>
            <a:endParaRPr lang="en-US" sz="2400" dirty="0">
              <a:latin typeface="Times New Roman"/>
              <a:cs typeface="Calibri"/>
            </a:endParaRP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rgbClr val="4A6F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rgbClr val="FFBB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text, clipart&#10;&#10;Description automatically generated">
            <a:extLst>
              <a:ext uri="{FF2B5EF4-FFF2-40B4-BE49-F238E27FC236}">
                <a16:creationId xmlns:a16="http://schemas.microsoft.com/office/drawing/2014/main" id="{BE382163-D518-4E3D-B334-7865A67398C0}"/>
              </a:ext>
            </a:extLst>
          </p:cNvPr>
          <p:cNvPicPr>
            <a:picLocks noChangeAspect="1"/>
          </p:cNvPicPr>
          <p:nvPr/>
        </p:nvPicPr>
        <p:blipFill>
          <a:blip r:embed="rId2"/>
          <a:stretch>
            <a:fillRect/>
          </a:stretch>
        </p:blipFill>
        <p:spPr>
          <a:xfrm>
            <a:off x="9434959" y="2857501"/>
            <a:ext cx="1101053" cy="1142998"/>
          </a:xfrm>
          <a:prstGeom prst="rect">
            <a:avLst/>
          </a:prstGeom>
        </p:spPr>
      </p:pic>
    </p:spTree>
    <p:extLst>
      <p:ext uri="{BB962C8B-B14F-4D97-AF65-F5344CB8AC3E}">
        <p14:creationId xmlns:p14="http://schemas.microsoft.com/office/powerpoint/2010/main" val="1207442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2D679-D180-44E4-8314-C94346040211}"/>
              </a:ext>
            </a:extLst>
          </p:cNvPr>
          <p:cNvSpPr>
            <a:spLocks noGrp="1"/>
          </p:cNvSpPr>
          <p:nvPr>
            <p:ph type="title"/>
          </p:nvPr>
        </p:nvSpPr>
        <p:spPr/>
        <p:txBody>
          <a:bodyPr>
            <a:normAutofit/>
          </a:bodyPr>
          <a:lstStyle/>
          <a:p>
            <a:r>
              <a:rPr lang="en-US" sz="3200" b="1" dirty="0">
                <a:latin typeface="Times New Roman"/>
                <a:ea typeface="+mj-lt"/>
                <a:cs typeface="+mj-lt"/>
              </a:rPr>
              <a:t>Common Functions of Interrupts</a:t>
            </a:r>
            <a:endParaRPr lang="en-US" sz="3200">
              <a:latin typeface="Times New Roman"/>
              <a:cs typeface="Times New Roman"/>
            </a:endParaRPr>
          </a:p>
        </p:txBody>
      </p:sp>
      <p:sp>
        <p:nvSpPr>
          <p:cNvPr id="3" name="Content Placeholder 2">
            <a:extLst>
              <a:ext uri="{FF2B5EF4-FFF2-40B4-BE49-F238E27FC236}">
                <a16:creationId xmlns:a16="http://schemas.microsoft.com/office/drawing/2014/main" id="{FA4FD7DC-D2B1-48BF-88A2-F0A7E4BF3673}"/>
              </a:ext>
            </a:extLst>
          </p:cNvPr>
          <p:cNvSpPr>
            <a:spLocks noGrp="1"/>
          </p:cNvSpPr>
          <p:nvPr>
            <p:ph idx="1"/>
          </p:nvPr>
        </p:nvSpPr>
        <p:spPr>
          <a:xfrm>
            <a:off x="996350" y="1825625"/>
            <a:ext cx="10271187" cy="4351338"/>
          </a:xfrm>
        </p:spPr>
        <p:txBody>
          <a:bodyPr vert="horz" lIns="91440" tIns="45720" rIns="91440" bIns="45720" rtlCol="0" anchor="t">
            <a:normAutofit/>
          </a:bodyPr>
          <a:lstStyle/>
          <a:p>
            <a:pPr algn="just"/>
            <a:r>
              <a:rPr lang="en-US" sz="2600" dirty="0">
                <a:latin typeface="Times New Roman"/>
                <a:ea typeface="+mn-lt"/>
                <a:cs typeface="+mn-lt"/>
              </a:rPr>
              <a:t>Interrupt transfers control to the interrupt service routine generally, through the interrupt vector, which contains the addresses of all the service routines</a:t>
            </a:r>
            <a:endParaRPr lang="en-US" sz="2600">
              <a:latin typeface="Times New Roman"/>
              <a:cs typeface="Calibri" panose="020F0502020204030204"/>
            </a:endParaRPr>
          </a:p>
          <a:p>
            <a:pPr algn="just"/>
            <a:r>
              <a:rPr lang="en-US" sz="2600" dirty="0">
                <a:latin typeface="Times New Roman"/>
                <a:ea typeface="+mn-lt"/>
                <a:cs typeface="+mn-lt"/>
              </a:rPr>
              <a:t>Interrupt architecture must save the address of the interrupted instruction</a:t>
            </a:r>
            <a:endParaRPr lang="en-US" sz="2600">
              <a:latin typeface="Times New Roman"/>
              <a:cs typeface="Calibri" panose="020F0502020204030204"/>
            </a:endParaRPr>
          </a:p>
          <a:p>
            <a:pPr algn="just"/>
            <a:r>
              <a:rPr lang="en-US" sz="2600" dirty="0">
                <a:latin typeface="Times New Roman"/>
                <a:ea typeface="+mn-lt"/>
                <a:cs typeface="+mn-lt"/>
              </a:rPr>
              <a:t>A trap or exception is a software-generated interrupt caused either by an error or a user request</a:t>
            </a:r>
            <a:endParaRPr lang="en-US" sz="2600">
              <a:latin typeface="Times New Roman"/>
              <a:cs typeface="Calibri" panose="020F0502020204030204"/>
            </a:endParaRPr>
          </a:p>
          <a:p>
            <a:pPr algn="just"/>
            <a:r>
              <a:rPr lang="en-US" sz="2600" dirty="0">
                <a:latin typeface="Times New Roman"/>
                <a:ea typeface="+mn-lt"/>
                <a:cs typeface="+mn-lt"/>
              </a:rPr>
              <a:t>An operating system is interrupt driven</a:t>
            </a:r>
            <a:endParaRPr lang="en-US" sz="2600">
              <a:latin typeface="Times New Roman"/>
              <a:cs typeface="Calibri" panose="020F0502020204030204"/>
            </a:endParaRPr>
          </a:p>
          <a:p>
            <a:pPr algn="just"/>
            <a:endParaRPr lang="en-US" sz="2600" dirty="0">
              <a:latin typeface="Times New Roman"/>
              <a:cs typeface="Calibri"/>
            </a:endParaRPr>
          </a:p>
        </p:txBody>
      </p:sp>
      <p:pic>
        <p:nvPicPr>
          <p:cNvPr id="5" name="Picture 4" descr="A picture containing text, clipart&#10;&#10;Description automatically generated">
            <a:extLst>
              <a:ext uri="{FF2B5EF4-FFF2-40B4-BE49-F238E27FC236}">
                <a16:creationId xmlns:a16="http://schemas.microsoft.com/office/drawing/2014/main" id="{BE382163-D518-4E3D-B334-7865A67398C0}"/>
              </a:ext>
            </a:extLst>
          </p:cNvPr>
          <p:cNvPicPr>
            <a:picLocks noChangeAspect="1"/>
          </p:cNvPicPr>
          <p:nvPr/>
        </p:nvPicPr>
        <p:blipFill>
          <a:blip r:embed="rId2"/>
          <a:stretch>
            <a:fillRect/>
          </a:stretch>
        </p:blipFill>
        <p:spPr>
          <a:xfrm>
            <a:off x="10966677" y="334056"/>
            <a:ext cx="1057275" cy="1095375"/>
          </a:xfrm>
          <a:prstGeom prst="rect">
            <a:avLst/>
          </a:prstGeom>
        </p:spPr>
      </p:pic>
      <p:pic>
        <p:nvPicPr>
          <p:cNvPr id="4" name="Picture 5">
            <a:extLst>
              <a:ext uri="{FF2B5EF4-FFF2-40B4-BE49-F238E27FC236}">
                <a16:creationId xmlns:a16="http://schemas.microsoft.com/office/drawing/2014/main" id="{41B53FCA-08C4-4CE0-A79C-790E13E4DFDD}"/>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751606" y="4180035"/>
            <a:ext cx="5000445" cy="2092269"/>
          </a:xfrm>
          <a:prstGeom prst="rect">
            <a:avLst/>
          </a:prstGeom>
        </p:spPr>
      </p:pic>
    </p:spTree>
    <p:extLst>
      <p:ext uri="{BB962C8B-B14F-4D97-AF65-F5344CB8AC3E}">
        <p14:creationId xmlns:p14="http://schemas.microsoft.com/office/powerpoint/2010/main" val="490492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2D679-D180-44E4-8314-C94346040211}"/>
              </a:ext>
            </a:extLst>
          </p:cNvPr>
          <p:cNvSpPr>
            <a:spLocks noGrp="1"/>
          </p:cNvSpPr>
          <p:nvPr>
            <p:ph type="title"/>
          </p:nvPr>
        </p:nvSpPr>
        <p:spPr/>
        <p:txBody>
          <a:bodyPr>
            <a:normAutofit/>
          </a:bodyPr>
          <a:lstStyle/>
          <a:p>
            <a:r>
              <a:rPr lang="en-US" sz="3200" b="1" dirty="0">
                <a:latin typeface="Times New Roman"/>
                <a:ea typeface="+mj-lt"/>
                <a:cs typeface="+mj-lt"/>
              </a:rPr>
              <a:t>Interrupt Timeline</a:t>
            </a:r>
            <a:endParaRPr lang="en-US" sz="3200">
              <a:latin typeface="Times New Roman"/>
              <a:cs typeface="Times New Roman"/>
            </a:endParaRPr>
          </a:p>
        </p:txBody>
      </p:sp>
      <p:pic>
        <p:nvPicPr>
          <p:cNvPr id="4" name="Picture 5" descr="Chart, box and whisker chart&#10;&#10;Description automatically generated">
            <a:extLst>
              <a:ext uri="{FF2B5EF4-FFF2-40B4-BE49-F238E27FC236}">
                <a16:creationId xmlns:a16="http://schemas.microsoft.com/office/drawing/2014/main" id="{44B1737E-3111-4533-8EED-FAC782AA8C98}"/>
              </a:ext>
            </a:extLst>
          </p:cNvPr>
          <p:cNvPicPr>
            <a:picLocks noGrp="1" noChangeAspect="1"/>
          </p:cNvPicPr>
          <p:nvPr>
            <p:ph idx="1"/>
          </p:nvPr>
        </p:nvPicPr>
        <p:blipFill>
          <a:blip r:embed="rId2"/>
          <a:stretch>
            <a:fillRect/>
          </a:stretch>
        </p:blipFill>
        <p:spPr>
          <a:xfrm>
            <a:off x="1640646" y="1825625"/>
            <a:ext cx="8910708" cy="4351338"/>
          </a:xfrm>
        </p:spPr>
      </p:pic>
      <p:pic>
        <p:nvPicPr>
          <p:cNvPr id="5" name="Picture 4" descr="A picture containing text, clipart&#10;&#10;Description automatically generated">
            <a:extLst>
              <a:ext uri="{FF2B5EF4-FFF2-40B4-BE49-F238E27FC236}">
                <a16:creationId xmlns:a16="http://schemas.microsoft.com/office/drawing/2014/main" id="{BE382163-D518-4E3D-B334-7865A67398C0}"/>
              </a:ext>
            </a:extLst>
          </p:cNvPr>
          <p:cNvPicPr>
            <a:picLocks noChangeAspect="1"/>
          </p:cNvPicPr>
          <p:nvPr/>
        </p:nvPicPr>
        <p:blipFill>
          <a:blip r:embed="rId3"/>
          <a:stretch>
            <a:fillRect/>
          </a:stretch>
        </p:blipFill>
        <p:spPr>
          <a:xfrm>
            <a:off x="10966677" y="334056"/>
            <a:ext cx="1057275" cy="1095375"/>
          </a:xfrm>
          <a:prstGeom prst="rect">
            <a:avLst/>
          </a:prstGeom>
        </p:spPr>
      </p:pic>
    </p:spTree>
    <p:extLst>
      <p:ext uri="{BB962C8B-B14F-4D97-AF65-F5344CB8AC3E}">
        <p14:creationId xmlns:p14="http://schemas.microsoft.com/office/powerpoint/2010/main" val="4087645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4FD7DC-D2B1-48BF-88A2-F0A7E4BF3673}"/>
              </a:ext>
            </a:extLst>
          </p:cNvPr>
          <p:cNvSpPr>
            <a:spLocks noGrp="1"/>
          </p:cNvSpPr>
          <p:nvPr>
            <p:ph idx="1"/>
          </p:nvPr>
        </p:nvSpPr>
        <p:spPr>
          <a:xfrm>
            <a:off x="800100" y="2606675"/>
            <a:ext cx="10515600" cy="879475"/>
          </a:xfrm>
        </p:spPr>
        <p:txBody>
          <a:bodyPr>
            <a:normAutofit/>
          </a:bodyPr>
          <a:lstStyle/>
          <a:p>
            <a:pPr marL="0" indent="0" algn="ctr">
              <a:buNone/>
            </a:pPr>
            <a:r>
              <a:rPr lang="en-US" sz="2400" dirty="0">
                <a:latin typeface="Arial Black" pitchFamily="34" charset="0"/>
              </a:rPr>
              <a:t>Thank you</a:t>
            </a:r>
          </a:p>
          <a:p>
            <a:pPr marL="0" indent="0" algn="ctr">
              <a:buNone/>
            </a:pPr>
            <a:r>
              <a:rPr lang="en-US" sz="2400" dirty="0">
                <a:latin typeface="Arial Black" pitchFamily="34" charset="0"/>
              </a:rPr>
              <a:t>Questions?</a:t>
            </a:r>
          </a:p>
        </p:txBody>
      </p:sp>
      <p:pic>
        <p:nvPicPr>
          <p:cNvPr id="5" name="Picture 4" descr="A picture containing text, clipart&#10;&#10;Description automatically generated">
            <a:extLst>
              <a:ext uri="{FF2B5EF4-FFF2-40B4-BE49-F238E27FC236}">
                <a16:creationId xmlns:a16="http://schemas.microsoft.com/office/drawing/2014/main" id="{BE382163-D518-4E3D-B334-7865A67398C0}"/>
              </a:ext>
            </a:extLst>
          </p:cNvPr>
          <p:cNvPicPr>
            <a:picLocks noChangeAspect="1"/>
          </p:cNvPicPr>
          <p:nvPr/>
        </p:nvPicPr>
        <p:blipFill>
          <a:blip r:embed="rId2"/>
          <a:stretch>
            <a:fillRect/>
          </a:stretch>
        </p:blipFill>
        <p:spPr>
          <a:xfrm>
            <a:off x="10966677" y="334056"/>
            <a:ext cx="1057275" cy="1095375"/>
          </a:xfrm>
          <a:prstGeom prst="rect">
            <a:avLst/>
          </a:prstGeom>
        </p:spPr>
      </p:pic>
    </p:spTree>
    <p:extLst>
      <p:ext uri="{BB962C8B-B14F-4D97-AF65-F5344CB8AC3E}">
        <p14:creationId xmlns:p14="http://schemas.microsoft.com/office/powerpoint/2010/main" val="136251629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TotalTime>
  <Words>863</Words>
  <Application>Microsoft Office PowerPoint</Application>
  <PresentationFormat>Widescreen</PresentationFormat>
  <Paragraphs>99</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Arial Black</vt:lpstr>
      <vt:lpstr>Calibri</vt:lpstr>
      <vt:lpstr>Calibri Light</vt:lpstr>
      <vt:lpstr>Gill Sans MT</vt:lpstr>
      <vt:lpstr>Helvetica</vt:lpstr>
      <vt:lpstr>Times New Roman</vt:lpstr>
      <vt:lpstr>Wingdings</vt:lpstr>
      <vt:lpstr>Office Theme</vt:lpstr>
      <vt:lpstr>Operating System</vt:lpstr>
      <vt:lpstr>Introduction</vt:lpstr>
      <vt:lpstr>Introduction (Cont.) </vt:lpstr>
      <vt:lpstr>Introduction (Cont.)</vt:lpstr>
      <vt:lpstr>Introduction (Cont.)</vt:lpstr>
      <vt:lpstr>Computer System Structure</vt:lpstr>
      <vt:lpstr>Four Components of a Computer System</vt:lpstr>
      <vt:lpstr>Kernel  </vt:lpstr>
      <vt:lpstr>PowerPoint Presentation</vt:lpstr>
      <vt:lpstr>Responsibilities of Kernel</vt:lpstr>
      <vt:lpstr>Responsibilities of Kernel (Cont.)  </vt:lpstr>
      <vt:lpstr>Features provided by Kernel</vt:lpstr>
      <vt:lpstr>Bootstrap Program</vt:lpstr>
      <vt:lpstr>Bootstrap Program (Cont.)</vt:lpstr>
      <vt:lpstr>Computer System Organization</vt:lpstr>
      <vt:lpstr>Computer-System Operation</vt:lpstr>
      <vt:lpstr>Common Functions of Interrupts</vt:lpstr>
      <vt:lpstr>Interrupt Timeline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Nazneen  Akhter</cp:lastModifiedBy>
  <cp:revision>410</cp:revision>
  <dcterms:created xsi:type="dcterms:W3CDTF">2013-07-15T20:26:40Z</dcterms:created>
  <dcterms:modified xsi:type="dcterms:W3CDTF">2025-09-01T08:22:36Z</dcterms:modified>
</cp:coreProperties>
</file>