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9"/>
  </p:notesMasterIdLst>
  <p:sldIdLst>
    <p:sldId id="256" r:id="rId2"/>
    <p:sldId id="257" r:id="rId3"/>
    <p:sldId id="258" r:id="rId4"/>
    <p:sldId id="283" r:id="rId5"/>
    <p:sldId id="284" r:id="rId6"/>
    <p:sldId id="259" r:id="rId7"/>
    <p:sldId id="260" r:id="rId8"/>
    <p:sldId id="261" r:id="rId9"/>
    <p:sldId id="268" r:id="rId10"/>
    <p:sldId id="270" r:id="rId11"/>
    <p:sldId id="269" r:id="rId12"/>
    <p:sldId id="271" r:id="rId13"/>
    <p:sldId id="272" r:id="rId14"/>
    <p:sldId id="273" r:id="rId15"/>
    <p:sldId id="262" r:id="rId16"/>
    <p:sldId id="263" r:id="rId17"/>
    <p:sldId id="265" r:id="rId18"/>
    <p:sldId id="264" r:id="rId19"/>
    <p:sldId id="274" r:id="rId20"/>
    <p:sldId id="275" r:id="rId21"/>
    <p:sldId id="276" r:id="rId22"/>
    <p:sldId id="278" r:id="rId23"/>
    <p:sldId id="277" r:id="rId24"/>
    <p:sldId id="279" r:id="rId25"/>
    <p:sldId id="281" r:id="rId26"/>
    <p:sldId id="280"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32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zneen  Akhter" userId="773059a0-2524-48f3-b8a1-3d5bde9e3a77" providerId="ADAL" clId="{A050110D-04F1-48E0-9091-2D5AF5E650BE}"/>
    <pc:docChg chg="modSld">
      <pc:chgData name="Nazneen  Akhter" userId="773059a0-2524-48f3-b8a1-3d5bde9e3a77" providerId="ADAL" clId="{A050110D-04F1-48E0-9091-2D5AF5E650BE}" dt="2026-02-22T04:43:52.537" v="20" actId="20577"/>
      <pc:docMkLst>
        <pc:docMk/>
      </pc:docMkLst>
      <pc:sldChg chg="modSp mod">
        <pc:chgData name="Nazneen  Akhter" userId="773059a0-2524-48f3-b8a1-3d5bde9e3a77" providerId="ADAL" clId="{A050110D-04F1-48E0-9091-2D5AF5E650BE}" dt="2026-02-22T04:43:52.537" v="20" actId="20577"/>
        <pc:sldMkLst>
          <pc:docMk/>
          <pc:sldMk cId="1760226099" sldId="256"/>
        </pc:sldMkLst>
        <pc:spChg chg="mod">
          <ac:chgData name="Nazneen  Akhter" userId="773059a0-2524-48f3-b8a1-3d5bde9e3a77" providerId="ADAL" clId="{A050110D-04F1-48E0-9091-2D5AF5E650BE}" dt="2026-02-22T04:43:52.537" v="20" actId="20577"/>
          <ac:spMkLst>
            <pc:docMk/>
            <pc:sldMk cId="1760226099" sldId="256"/>
            <ac:spMk id="3" creationId="{810B75CC-ABB3-41CC-8D0B-B1B26062F0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41CD16-824F-4B05-89EF-5C91D52360A2}"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F6508C-2C88-44CB-A0EA-81B48033742C}" type="slidenum">
              <a:rPr lang="en-US" smtClean="0"/>
              <a:t>‹#›</a:t>
            </a:fld>
            <a:endParaRPr lang="en-US"/>
          </a:p>
        </p:txBody>
      </p:sp>
    </p:spTree>
    <p:extLst>
      <p:ext uri="{BB962C8B-B14F-4D97-AF65-F5344CB8AC3E}">
        <p14:creationId xmlns:p14="http://schemas.microsoft.com/office/powerpoint/2010/main" val="2691898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77F4069-AB86-47BA-A29B-ED90E82B0AE7}" type="datetime1">
              <a:rPr lang="en-US" smtClean="0"/>
              <a:t>2/22/2026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992E02-FF95-4C68-A28C-D96AD97235AB}" type="datetime1">
              <a:rPr lang="en-US" smtClean="0"/>
              <a:t>2/22/2026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0F50187-C4F9-44C7-903A-1A77B37EFF18}" type="datetime1">
              <a:rPr lang="en-US" smtClean="0"/>
              <a:t>2/22/2026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F3AE256-CFE0-4C7F-BB0D-3D65CEF38F1A}" type="datetime1">
              <a:rPr lang="en-US" smtClean="0"/>
              <a:t>2/22/2026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8098772-FD9E-43DF-9571-B7484ED5A5C0}" type="datetime1">
              <a:rPr lang="en-US" smtClean="0"/>
              <a:t>2/22/2026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E28916-3CB1-4488-A664-9498E20BC0BD}" type="datetime1">
              <a:rPr lang="en-US" smtClean="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6C01FC-2732-4FCE-8078-7F95DD1FF5EF}" type="datetime1">
              <a:rPr lang="en-US" smtClean="0"/>
              <a:t>2/22/2026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099EC95-B1F7-4399-8F62-28201FD6FD6E}" type="datetime1">
              <a:rPr lang="en-US" smtClean="0"/>
              <a:t>2/22/2026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D628967F-9F60-43B9-B777-8510086686B4}" type="datetime1">
              <a:rPr lang="en-US" smtClean="0"/>
              <a:t>2/22/2026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CE9C1-95E5-47F1-9851-7C0ADF674664}" type="datetime1">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3F5ED-385A-4128-B61A-83EEB5704F11}" type="datetime1">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9F263A03-E8C7-4C79-A0BF-FEDC64CFD173}" type="datetime1">
              <a:rPr lang="en-US" smtClean="0"/>
              <a:t>2/22/2026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18D21-3178-433A-97A8-9082F4DC44EB}"/>
              </a:ext>
            </a:extLst>
          </p:cNvPr>
          <p:cNvSpPr>
            <a:spLocks noGrp="1"/>
          </p:cNvSpPr>
          <p:nvPr>
            <p:ph type="ctrTitle"/>
          </p:nvPr>
        </p:nvSpPr>
        <p:spPr/>
        <p:txBody>
          <a:bodyPr>
            <a:normAutofit/>
          </a:bodyPr>
          <a:lstStyle/>
          <a:p>
            <a:r>
              <a:rPr lang="en-US" sz="4000" b="1" cap="none" dirty="0">
                <a:latin typeface="Times New Roman" pitchFamily="18" charset="0"/>
                <a:cs typeface="Times New Roman" pitchFamily="18" charset="0"/>
              </a:rPr>
              <a:t>System Call </a:t>
            </a:r>
          </a:p>
        </p:txBody>
      </p:sp>
      <p:sp>
        <p:nvSpPr>
          <p:cNvPr id="3" name="Subtitle 2">
            <a:extLst>
              <a:ext uri="{FF2B5EF4-FFF2-40B4-BE49-F238E27FC236}">
                <a16:creationId xmlns:a16="http://schemas.microsoft.com/office/drawing/2014/main" id="{810B75CC-ABB3-41CC-8D0B-B1B26062F005}"/>
              </a:ext>
            </a:extLst>
          </p:cNvPr>
          <p:cNvSpPr>
            <a:spLocks noGrp="1"/>
          </p:cNvSpPr>
          <p:nvPr>
            <p:ph type="subTitle" idx="1"/>
          </p:nvPr>
        </p:nvSpPr>
        <p:spPr>
          <a:xfrm>
            <a:off x="7237663" y="4095148"/>
            <a:ext cx="6801612" cy="1239894"/>
          </a:xfrm>
        </p:spPr>
        <p:txBody>
          <a:bodyPr>
            <a:noAutofit/>
          </a:bodyPr>
          <a:lstStyle/>
          <a:p>
            <a:pPr algn="l" defTabSz="914400">
              <a:spcBef>
                <a:spcPts val="900"/>
              </a:spcBef>
            </a:pPr>
            <a:r>
              <a:rPr lang="en-US" sz="1800" dirty="0">
                <a:solidFill>
                  <a:schemeClr val="bg1"/>
                </a:solidFill>
                <a:latin typeface="Times New Roman"/>
                <a:cs typeface="Times New Roman"/>
              </a:rPr>
              <a:t>Nazneen Akhter ​</a:t>
            </a:r>
          </a:p>
          <a:p>
            <a:pPr algn="l" defTabSz="914400">
              <a:spcBef>
                <a:spcPts val="900"/>
              </a:spcBef>
            </a:pPr>
            <a:r>
              <a:rPr lang="en-US" sz="1800" dirty="0">
                <a:solidFill>
                  <a:schemeClr val="bg1"/>
                </a:solidFill>
                <a:latin typeface="Times New Roman"/>
                <a:cs typeface="Times New Roman"/>
              </a:rPr>
              <a:t>Assistant Professor​</a:t>
            </a:r>
          </a:p>
          <a:p>
            <a:pPr algn="l" defTabSz="914400">
              <a:spcBef>
                <a:spcPts val="900"/>
              </a:spcBef>
            </a:pPr>
            <a:r>
              <a:rPr lang="en-US" sz="1800" dirty="0">
                <a:solidFill>
                  <a:schemeClr val="bg1"/>
                </a:solidFill>
                <a:latin typeface="Times New Roman"/>
                <a:cs typeface="Times New Roman"/>
              </a:rPr>
              <a:t>Dept. </a:t>
            </a:r>
            <a:r>
              <a:rPr lang="en-US" sz="1800">
                <a:solidFill>
                  <a:schemeClr val="bg1"/>
                </a:solidFill>
                <a:latin typeface="Times New Roman"/>
                <a:cs typeface="Times New Roman"/>
              </a:rPr>
              <a:t>of </a:t>
            </a:r>
            <a:r>
              <a:rPr lang="en-US" sz="1800" dirty="0">
                <a:solidFill>
                  <a:schemeClr val="bg1"/>
                </a:solidFill>
                <a:latin typeface="Times New Roman"/>
                <a:cs typeface="Times New Roman"/>
              </a:rPr>
              <a:t>ICT​</a:t>
            </a:r>
          </a:p>
          <a:p>
            <a:pPr algn="l" defTabSz="914400">
              <a:spcBef>
                <a:spcPts val="900"/>
              </a:spcBef>
            </a:pPr>
            <a:r>
              <a:rPr lang="en-US" sz="1800" dirty="0">
                <a:solidFill>
                  <a:schemeClr val="bg1"/>
                </a:solidFill>
                <a:latin typeface="Times New Roman"/>
                <a:cs typeface="Times New Roman"/>
              </a:rPr>
              <a:t>Faculty of Science and Technology​</a:t>
            </a:r>
          </a:p>
          <a:p>
            <a:pPr algn="l" defTabSz="914400">
              <a:spcBef>
                <a:spcPts val="900"/>
              </a:spcBef>
            </a:pPr>
            <a:r>
              <a:rPr lang="en-US" sz="1800" dirty="0">
                <a:solidFill>
                  <a:schemeClr val="bg1"/>
                </a:solidFill>
                <a:latin typeface="Times New Roman"/>
                <a:cs typeface="Times New Roman"/>
              </a:rPr>
              <a:t>Bangladesh University of Professionals (BUP) ​</a:t>
            </a:r>
          </a:p>
          <a:p>
            <a:pPr algn="l" defTabSz="914400">
              <a:spcBef>
                <a:spcPts val="900"/>
              </a:spcBef>
            </a:pPr>
            <a:r>
              <a:rPr lang="en-US" sz="1800" dirty="0">
                <a:solidFill>
                  <a:schemeClr val="bg1"/>
                </a:solidFill>
                <a:latin typeface="Times New Roman"/>
                <a:cs typeface="Times New Roman"/>
              </a:rPr>
              <a:t>​</a:t>
            </a:r>
          </a:p>
          <a:p>
            <a:pPr algn="l" defTabSz="914400">
              <a:spcBef>
                <a:spcPts val="900"/>
              </a:spcBef>
            </a:pPr>
            <a:r>
              <a:rPr lang="en-US" sz="1800" dirty="0">
                <a:solidFill>
                  <a:schemeClr val="bg1"/>
                </a:solidFill>
                <a:latin typeface="Times New Roman"/>
                <a:cs typeface="Times New Roman"/>
              </a:rPr>
              <a:t>​</a:t>
            </a:r>
          </a:p>
          <a:p>
            <a:pPr algn="l" defTabSz="914400">
              <a:spcBef>
                <a:spcPts val="900"/>
              </a:spcBef>
            </a:pPr>
            <a:r>
              <a:rPr lang="en-US" sz="1800" dirty="0">
                <a:solidFill>
                  <a:schemeClr val="bg1"/>
                </a:solidFill>
                <a:latin typeface="Times New Roman"/>
                <a:cs typeface="Times New Roman"/>
              </a:rPr>
              <a:t>​</a:t>
            </a:r>
          </a:p>
          <a:p>
            <a:pPr algn="l" defTabSz="914400">
              <a:spcBef>
                <a:spcPts val="900"/>
              </a:spcBef>
            </a:pPr>
            <a:r>
              <a:rPr lang="en-US" sz="1800" dirty="0">
                <a:solidFill>
                  <a:schemeClr val="bg1"/>
                </a:solidFill>
                <a:latin typeface="Times New Roman"/>
                <a:cs typeface="Times New Roman"/>
              </a:rPr>
              <a:t>​</a:t>
            </a:r>
          </a:p>
          <a:p>
            <a:pPr algn="l"/>
            <a:endParaRPr lang="en-US" sz="1800" dirty="0">
              <a:solidFill>
                <a:schemeClr val="bg1"/>
              </a:solidFill>
            </a:endParaRPr>
          </a:p>
        </p:txBody>
      </p:sp>
      <p:pic>
        <p:nvPicPr>
          <p:cNvPr id="4" name="Picture 3"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1B06281C-BDD1-4321-BC41-78F50F0FCCCB}"/>
              </a:ext>
            </a:extLst>
          </p:cNvPr>
          <p:cNvSpPr>
            <a:spLocks noGrp="1"/>
          </p:cNvSpPr>
          <p:nvPr>
            <p:ph type="dt" sz="half" idx="10"/>
          </p:nvPr>
        </p:nvSpPr>
        <p:spPr/>
        <p:txBody>
          <a:bodyPr/>
          <a:lstStyle/>
          <a:p>
            <a:fld id="{F60D81FB-BA20-4493-82A4-E9196765C9C0}" type="datetime1">
              <a:rPr lang="en-US" smtClean="0"/>
              <a:t>2/22/2026</a:t>
            </a:fld>
            <a:endParaRPr lang="en-US" dirty="0"/>
          </a:p>
        </p:txBody>
      </p:sp>
      <p:sp>
        <p:nvSpPr>
          <p:cNvPr id="6" name="Slide Number Placeholder 5">
            <a:extLst>
              <a:ext uri="{FF2B5EF4-FFF2-40B4-BE49-F238E27FC236}">
                <a16:creationId xmlns:a16="http://schemas.microsoft.com/office/drawing/2014/main" id="{4F92825E-6FF4-4F0B-8E54-62FE61999D4A}"/>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176022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5068C-7A25-405A-9E2D-5AC2D14A2CFC}"/>
              </a:ext>
            </a:extLst>
          </p:cNvPr>
          <p:cNvSpPr>
            <a:spLocks noGrp="1"/>
          </p:cNvSpPr>
          <p:nvPr>
            <p:ph type="title"/>
          </p:nvPr>
        </p:nvSpPr>
        <p:spPr/>
        <p:txBody>
          <a:bodyPr>
            <a:noAutofit/>
          </a:bodyPr>
          <a:lstStyle/>
          <a:p>
            <a:br>
              <a:rPr lang="en-US" sz="3200" b="1" cap="none" dirty="0">
                <a:effectLst/>
                <a:latin typeface="Times New Roman" panose="02020603050405020304" pitchFamily="18" charset="0"/>
                <a:ea typeface="Calibri" panose="020F0502020204030204" pitchFamily="34" charset="0"/>
                <a:cs typeface="Times New Roman" panose="02020603050405020304" pitchFamily="18" charset="0"/>
              </a:rPr>
            </a:br>
            <a:r>
              <a:rPr lang="en-US" sz="3200" b="1" cap="none" dirty="0">
                <a:effectLst/>
                <a:latin typeface="Times New Roman" panose="02020603050405020304" pitchFamily="18" charset="0"/>
                <a:ea typeface="Calibri" panose="020F0502020204030204" pitchFamily="34" charset="0"/>
                <a:cs typeface="Times New Roman" panose="02020603050405020304" pitchFamily="18" charset="0"/>
              </a:rPr>
              <a:t>What is a system call?</a:t>
            </a:r>
            <a:br>
              <a:rPr lang="en-US" sz="3200" b="1" cap="none"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3200" b="1"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3062AA-3C09-433A-847B-EF6D42DFBCE4}"/>
              </a:ext>
            </a:extLst>
          </p:cNvPr>
          <p:cNvSpPr>
            <a:spLocks noGrp="1"/>
          </p:cNvSpPr>
          <p:nvPr>
            <p:ph idx="1"/>
          </p:nvPr>
        </p:nvSpPr>
        <p:spPr>
          <a:xfrm>
            <a:off x="675861" y="2638044"/>
            <a:ext cx="11198087" cy="3603730"/>
          </a:xfrm>
        </p:spPr>
        <p:txBody>
          <a:bodyPr>
            <a:normAutofit lnSpcReduction="10000"/>
          </a:bodyPr>
          <a:lstStyle/>
          <a:p>
            <a:pPr algn="just"/>
            <a:r>
              <a:rPr lang="en-US" sz="27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system call is a method for a computer program to request a service from the kernel of the </a:t>
            </a:r>
            <a:r>
              <a:rPr lang="en-US" sz="2700" u="none" strike="noStrike"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operating system</a:t>
            </a:r>
            <a:r>
              <a:rPr lang="en-US" sz="27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on which it is running.</a:t>
            </a:r>
          </a:p>
          <a:p>
            <a:pPr algn="just"/>
            <a:r>
              <a:rPr lang="en-US" sz="27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system call is a method of interacting with the operating system via programs</a:t>
            </a:r>
          </a:p>
          <a:p>
            <a:pPr algn="just"/>
            <a:r>
              <a:rPr lang="en-US" sz="27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system call is a request from computer software to an operating system's kernel</a:t>
            </a:r>
          </a:p>
          <a:p>
            <a:pPr algn="just"/>
            <a:r>
              <a:rPr lang="en-US" sz="2800" b="1" dirty="0">
                <a:solidFill>
                  <a:srgbClr val="000000"/>
                </a:solidFill>
                <a:effectLst/>
                <a:highlight>
                  <a:srgbClr val="C0C0C0"/>
                </a:highlight>
                <a:latin typeface="Times New Roman" panose="02020603050405020304" pitchFamily="18" charset="0"/>
                <a:ea typeface="Calibri" panose="020F0502020204030204" pitchFamily="34" charset="0"/>
              </a:rPr>
              <a:t>System calls are usually made when a process in user mode requires access to a resource</a:t>
            </a:r>
            <a:endParaRPr lang="en-US" sz="28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7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4213B4D1-78A7-4288-B6F9-6F5F7D5E57A9}"/>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C5DBAA25-680A-4169-B94F-FB8A4F0B1DCE}"/>
              </a:ext>
            </a:extLst>
          </p:cNvPr>
          <p:cNvSpPr>
            <a:spLocks noGrp="1"/>
          </p:cNvSpPr>
          <p:nvPr>
            <p:ph type="dt" sz="half" idx="10"/>
          </p:nvPr>
        </p:nvSpPr>
        <p:spPr/>
        <p:txBody>
          <a:bodyPr/>
          <a:lstStyle/>
          <a:p>
            <a:fld id="{CC7D9274-19A1-4D19-AD9B-610439DFB380}" type="datetime1">
              <a:rPr lang="en-US" smtClean="0"/>
              <a:t>2/22/2026</a:t>
            </a:fld>
            <a:endParaRPr lang="en-US" dirty="0"/>
          </a:p>
        </p:txBody>
      </p:sp>
      <p:sp>
        <p:nvSpPr>
          <p:cNvPr id="6" name="Slide Number Placeholder 5">
            <a:extLst>
              <a:ext uri="{FF2B5EF4-FFF2-40B4-BE49-F238E27FC236}">
                <a16:creationId xmlns:a16="http://schemas.microsoft.com/office/drawing/2014/main" id="{FE8D5981-71B1-448C-B745-BE4E68B722B2}"/>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360989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69086-0D42-4AA5-8581-B5844FD08E7A}"/>
              </a:ext>
            </a:extLst>
          </p:cNvPr>
          <p:cNvSpPr>
            <a:spLocks noGrp="1"/>
          </p:cNvSpPr>
          <p:nvPr>
            <p:ph type="title"/>
          </p:nvPr>
        </p:nvSpPr>
        <p:spPr/>
        <p:txBody>
          <a:bodyPr/>
          <a:lstStyle/>
          <a:p>
            <a:r>
              <a:rPr lang="en-US" cap="none" dirty="0">
                <a:latin typeface="Times New Roman" pitchFamily="18" charset="0"/>
                <a:cs typeface="Times New Roman" pitchFamily="18" charset="0"/>
              </a:rPr>
              <a:t>Cont</a:t>
            </a:r>
            <a:r>
              <a:rPr lang="en-US" dirty="0">
                <a:latin typeface="Times New Roman" pitchFamily="18" charset="0"/>
                <a:cs typeface="Times New Roman" pitchFamily="18" charset="0"/>
              </a:rPr>
              <a:t>..</a:t>
            </a:r>
          </a:p>
        </p:txBody>
      </p:sp>
      <p:sp>
        <p:nvSpPr>
          <p:cNvPr id="4" name="Rectangle 2">
            <a:extLst>
              <a:ext uri="{FF2B5EF4-FFF2-40B4-BE49-F238E27FC236}">
                <a16:creationId xmlns:a16="http://schemas.microsoft.com/office/drawing/2014/main" id="{A5EF8E01-18F8-4405-8AB3-F56F394469B0}"/>
              </a:ext>
            </a:extLst>
          </p:cNvPr>
          <p:cNvSpPr>
            <a:spLocks noChangeArrowheads="1"/>
          </p:cNvSpPr>
          <p:nvPr/>
        </p:nvSpPr>
        <p:spPr bwMode="auto">
          <a:xfrm>
            <a:off x="3124200" y="188180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025" name="Picture 1" descr="Description: System Calls">
            <a:extLst>
              <a:ext uri="{FF2B5EF4-FFF2-40B4-BE49-F238E27FC236}">
                <a16:creationId xmlns:a16="http://schemas.microsoft.com/office/drawing/2014/main" id="{F26471DF-CE49-49C1-9AC4-07066075A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297" y="2323463"/>
            <a:ext cx="8589405" cy="439105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E0B68A5-5A4E-43B7-9CF5-BCE9659587AC}"/>
              </a:ext>
            </a:extLst>
          </p:cNvPr>
          <p:cNvSpPr>
            <a:spLocks noChangeArrowheads="1"/>
          </p:cNvSpPr>
          <p:nvPr/>
        </p:nvSpPr>
        <p:spPr bwMode="auto">
          <a:xfrm>
            <a:off x="3124200" y="53774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7" name="Picture 6" descr="A picture containing text, clipart&#10;&#10;Description automatically generated">
            <a:extLst>
              <a:ext uri="{FF2B5EF4-FFF2-40B4-BE49-F238E27FC236}">
                <a16:creationId xmlns:a16="http://schemas.microsoft.com/office/drawing/2014/main" id="{ACF368BB-E4C9-42AE-8AA1-759B99BAAFF4}"/>
              </a:ext>
            </a:extLst>
          </p:cNvPr>
          <p:cNvPicPr>
            <a:picLocks noChangeAspect="1"/>
          </p:cNvPicPr>
          <p:nvPr/>
        </p:nvPicPr>
        <p:blipFill>
          <a:blip r:embed="rId3"/>
          <a:stretch>
            <a:fillRect/>
          </a:stretch>
        </p:blipFill>
        <p:spPr>
          <a:xfrm>
            <a:off x="10918982" y="0"/>
            <a:ext cx="1273018" cy="1248669"/>
          </a:xfrm>
          <a:prstGeom prst="rect">
            <a:avLst/>
          </a:prstGeom>
        </p:spPr>
      </p:pic>
      <p:sp>
        <p:nvSpPr>
          <p:cNvPr id="6" name="Date Placeholder 5">
            <a:extLst>
              <a:ext uri="{FF2B5EF4-FFF2-40B4-BE49-F238E27FC236}">
                <a16:creationId xmlns:a16="http://schemas.microsoft.com/office/drawing/2014/main" id="{9E3F70CD-FC77-4A91-B3BE-1174DD76267E}"/>
              </a:ext>
            </a:extLst>
          </p:cNvPr>
          <p:cNvSpPr>
            <a:spLocks noGrp="1"/>
          </p:cNvSpPr>
          <p:nvPr>
            <p:ph type="dt" sz="half" idx="10"/>
          </p:nvPr>
        </p:nvSpPr>
        <p:spPr/>
        <p:txBody>
          <a:bodyPr/>
          <a:lstStyle/>
          <a:p>
            <a:fld id="{F8A332CB-F21B-4DE1-9CE3-057BCEDFC6F8}" type="datetime1">
              <a:rPr lang="en-US" smtClean="0"/>
              <a:t>2/22/2026</a:t>
            </a:fld>
            <a:endParaRPr lang="en-US" dirty="0"/>
          </a:p>
        </p:txBody>
      </p:sp>
      <p:sp>
        <p:nvSpPr>
          <p:cNvPr id="8" name="Slide Number Placeholder 7">
            <a:extLst>
              <a:ext uri="{FF2B5EF4-FFF2-40B4-BE49-F238E27FC236}">
                <a16:creationId xmlns:a16="http://schemas.microsoft.com/office/drawing/2014/main" id="{FA008005-F06F-4AA0-943A-A669060AB9D8}"/>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768548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Times New Roman" pitchFamily="18" charset="0"/>
                <a:cs typeface="Times New Roman" pitchFamily="18" charset="0"/>
              </a:rPr>
              <a:t>Cont..</a:t>
            </a:r>
          </a:p>
        </p:txBody>
      </p:sp>
      <p:sp>
        <p:nvSpPr>
          <p:cNvPr id="4" name="Date Placeholder 3"/>
          <p:cNvSpPr>
            <a:spLocks noGrp="1"/>
          </p:cNvSpPr>
          <p:nvPr>
            <p:ph type="dt" sz="half" idx="10"/>
          </p:nvPr>
        </p:nvSpPr>
        <p:spPr/>
        <p:txBody>
          <a:bodyPr/>
          <a:lstStyle/>
          <a:p>
            <a:fld id="{07992E02-FF95-4C68-A28C-D96AD97235AB}" type="datetime1">
              <a:rPr lang="en-US" smtClean="0"/>
              <a:t>2/22/2026</a:t>
            </a:fld>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4</a:t>
            </a:fld>
            <a:endParaRPr lang="en-US" dirty="0"/>
          </a:p>
        </p:txBody>
      </p:sp>
      <p:sp>
        <p:nvSpPr>
          <p:cNvPr id="6" name="Oval 5"/>
          <p:cNvSpPr/>
          <p:nvPr/>
        </p:nvSpPr>
        <p:spPr>
          <a:xfrm>
            <a:off x="3515932" y="2331077"/>
            <a:ext cx="3593206" cy="3374264"/>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solidFill>
                  <a:schemeClr val="bg2">
                    <a:lumMod val="75000"/>
                  </a:schemeClr>
                </a:solidFill>
              </a:rPr>
              <a:t>U</a:t>
            </a:r>
          </a:p>
        </p:txBody>
      </p:sp>
      <p:sp>
        <p:nvSpPr>
          <p:cNvPr id="7" name="Oval 6"/>
          <p:cNvSpPr/>
          <p:nvPr/>
        </p:nvSpPr>
        <p:spPr>
          <a:xfrm>
            <a:off x="4172756" y="3065172"/>
            <a:ext cx="2221604" cy="189319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b="1" dirty="0">
                <a:solidFill>
                  <a:schemeClr val="tx1"/>
                </a:solidFill>
                <a:latin typeface="Times New Roman" pitchFamily="18" charset="0"/>
                <a:cs typeface="Times New Roman" pitchFamily="18" charset="0"/>
              </a:rPr>
              <a:t>Kernel Mode</a:t>
            </a:r>
          </a:p>
        </p:txBody>
      </p:sp>
      <p:sp>
        <p:nvSpPr>
          <p:cNvPr id="8" name="TextBox 7"/>
          <p:cNvSpPr txBox="1"/>
          <p:nvPr/>
        </p:nvSpPr>
        <p:spPr>
          <a:xfrm>
            <a:off x="4571998" y="2640169"/>
            <a:ext cx="2202288" cy="400110"/>
          </a:xfrm>
          <a:prstGeom prst="rect">
            <a:avLst/>
          </a:prstGeom>
          <a:noFill/>
        </p:spPr>
        <p:txBody>
          <a:bodyPr wrap="square" rtlCol="0">
            <a:spAutoFit/>
          </a:bodyPr>
          <a:lstStyle/>
          <a:p>
            <a:r>
              <a:rPr lang="en-US" sz="2000" b="1" dirty="0">
                <a:latin typeface="Times New Roman" pitchFamily="18" charset="0"/>
                <a:cs typeface="Times New Roman" pitchFamily="18" charset="0"/>
              </a:rPr>
              <a:t>User Mode</a:t>
            </a:r>
          </a:p>
        </p:txBody>
      </p:sp>
      <p:cxnSp>
        <p:nvCxnSpPr>
          <p:cNvPr id="10" name="Straight Arrow Connector 9"/>
          <p:cNvCxnSpPr/>
          <p:nvPr/>
        </p:nvCxnSpPr>
        <p:spPr>
          <a:xfrm>
            <a:off x="6156101" y="4018209"/>
            <a:ext cx="194471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8358389" y="3889420"/>
            <a:ext cx="1931831" cy="400110"/>
          </a:xfrm>
          <a:prstGeom prst="rect">
            <a:avLst/>
          </a:prstGeom>
          <a:noFill/>
        </p:spPr>
        <p:txBody>
          <a:bodyPr wrap="square" rtlCol="0">
            <a:spAutoFit/>
          </a:bodyPr>
          <a:lstStyle/>
          <a:p>
            <a:r>
              <a:rPr lang="en-US" sz="2000" dirty="0">
                <a:latin typeface="Times New Roman" pitchFamily="18" charset="0"/>
                <a:cs typeface="Times New Roman" pitchFamily="18" charset="0"/>
              </a:rPr>
              <a:t>Privileged mode</a:t>
            </a:r>
          </a:p>
        </p:txBody>
      </p:sp>
    </p:spTree>
    <p:extLst>
      <p:ext uri="{BB962C8B-B14F-4D97-AF65-F5344CB8AC3E}">
        <p14:creationId xmlns:p14="http://schemas.microsoft.com/office/powerpoint/2010/main" val="158044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Times New Roman" pitchFamily="18" charset="0"/>
                <a:cs typeface="Times New Roman" pitchFamily="18" charset="0"/>
              </a:rPr>
              <a:t>Cont</a:t>
            </a:r>
            <a:r>
              <a:rPr lang="en-US" dirty="0">
                <a:latin typeface="Times New Roman" pitchFamily="18" charset="0"/>
                <a:cs typeface="Times New Roman" pitchFamily="18" charset="0"/>
              </a:rPr>
              <a:t>..</a:t>
            </a:r>
            <a:endParaRPr lang="en-US" dirty="0"/>
          </a:p>
        </p:txBody>
      </p:sp>
      <p:sp>
        <p:nvSpPr>
          <p:cNvPr id="3" name="Content Placeholder 2"/>
          <p:cNvSpPr>
            <a:spLocks noGrp="1"/>
          </p:cNvSpPr>
          <p:nvPr>
            <p:ph idx="1"/>
          </p:nvPr>
        </p:nvSpPr>
        <p:spPr>
          <a:xfrm>
            <a:off x="553792" y="2638044"/>
            <a:ext cx="10689464" cy="3101983"/>
          </a:xfrm>
        </p:spPr>
        <p:txBody>
          <a:bodyPr>
            <a:normAutofit/>
          </a:bodyPr>
          <a:lstStyle/>
          <a:p>
            <a:r>
              <a:rPr lang="en-US" sz="2400" dirty="0">
                <a:latin typeface="Times New Roman" pitchFamily="18" charset="0"/>
                <a:cs typeface="Times New Roman" pitchFamily="18" charset="0"/>
              </a:rPr>
              <a:t> The </a:t>
            </a:r>
            <a:r>
              <a:rPr lang="en-US" sz="2400" b="1" dirty="0">
                <a:latin typeface="Times New Roman" pitchFamily="18" charset="0"/>
                <a:cs typeface="Times New Roman" pitchFamily="18" charset="0"/>
              </a:rPr>
              <a:t>User mode</a:t>
            </a:r>
            <a:r>
              <a:rPr lang="en-US" sz="2400" dirty="0">
                <a:latin typeface="Times New Roman" pitchFamily="18" charset="0"/>
                <a:cs typeface="Times New Roman" pitchFamily="18" charset="0"/>
              </a:rPr>
              <a:t> is normal mode where the process has limited access</a:t>
            </a:r>
          </a:p>
          <a:p>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Kernel mode</a:t>
            </a:r>
            <a:r>
              <a:rPr lang="en-US" sz="2400" dirty="0">
                <a:latin typeface="Times New Roman" pitchFamily="18" charset="0"/>
                <a:cs typeface="Times New Roman" pitchFamily="18" charset="0"/>
              </a:rPr>
              <a:t> is the privileged mode where the process has unrestricted access to system resources like hardware, memory, etc.</a:t>
            </a:r>
          </a:p>
          <a:p>
            <a:r>
              <a:rPr lang="en-US" sz="2400" dirty="0">
                <a:latin typeface="Times New Roman" pitchFamily="18" charset="0"/>
                <a:cs typeface="Times New Roman" pitchFamily="18" charset="0"/>
              </a:rPr>
              <a:t>A process can access I/O Hardware registers to program it, can execute OS kernel code and access kernel data in Kernel mode</a:t>
            </a:r>
          </a:p>
          <a:p>
            <a:r>
              <a:rPr lang="en-US" sz="2400" dirty="0">
                <a:latin typeface="Times New Roman" pitchFamily="18" charset="0"/>
                <a:cs typeface="Times New Roman" pitchFamily="18" charset="0"/>
              </a:rPr>
              <a:t>Anything related to Process management, IO hardware management, and Memory management requires process to execute in Kernel mode</a:t>
            </a:r>
          </a:p>
        </p:txBody>
      </p:sp>
      <p:sp>
        <p:nvSpPr>
          <p:cNvPr id="4" name="Date Placeholder 3"/>
          <p:cNvSpPr>
            <a:spLocks noGrp="1"/>
          </p:cNvSpPr>
          <p:nvPr>
            <p:ph type="dt" sz="half" idx="10"/>
          </p:nvPr>
        </p:nvSpPr>
        <p:spPr/>
        <p:txBody>
          <a:bodyPr/>
          <a:lstStyle/>
          <a:p>
            <a:fld id="{07992E02-FF95-4C68-A28C-D96AD97235AB}" type="datetime1">
              <a:rPr lang="en-US" smtClean="0"/>
              <a:t>2/22/2026</a:t>
            </a:fld>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2478542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30DAFFC-F5BF-413C-850F-AA97545E7E5E}"/>
              </a:ext>
            </a:extLst>
          </p:cNvPr>
          <p:cNvSpPr>
            <a:spLocks noGrp="1"/>
          </p:cNvSpPr>
          <p:nvPr>
            <p:ph type="title"/>
          </p:nvPr>
        </p:nvSpPr>
        <p:spPr>
          <a:xfrm>
            <a:off x="2231136" y="467418"/>
            <a:ext cx="7729728" cy="1188720"/>
          </a:xfrm>
          <a:solidFill>
            <a:srgbClr val="FFFFFF"/>
          </a:solidFill>
        </p:spPr>
        <p:txBody>
          <a:bodyPr>
            <a:noAutofit/>
          </a:bodyPr>
          <a:lstStyle/>
          <a:p>
            <a:br>
              <a:rPr lang="en-US" b="1" cap="none"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b="1" cap="none" dirty="0">
                <a:effectLst/>
                <a:latin typeface="Times New Roman" panose="02020603050405020304" pitchFamily="18" charset="0"/>
                <a:ea typeface="Times New Roman" panose="02020603050405020304" pitchFamily="18" charset="0"/>
                <a:cs typeface="Times New Roman" panose="02020603050405020304" pitchFamily="18" charset="0"/>
              </a:rPr>
              <a:t>Why do you need system calls in operating system?</a:t>
            </a:r>
            <a:br>
              <a:rPr lang="en-US" cap="none" dirty="0">
                <a:effectLst/>
                <a:latin typeface="Times New Roman" panose="02020603050405020304" pitchFamily="18" charset="0"/>
                <a:ea typeface="Calibri" panose="020F0502020204030204" pitchFamily="34" charset="0"/>
                <a:cs typeface="Times New Roman" panose="02020603050405020304" pitchFamily="18" charset="0"/>
              </a:rPr>
            </a:br>
            <a:endParaRPr lang="en-US"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D63B45-25DB-4FCE-9214-0DA9A36FFC9B}"/>
              </a:ext>
            </a:extLst>
          </p:cNvPr>
          <p:cNvSpPr>
            <a:spLocks noGrp="1"/>
          </p:cNvSpPr>
          <p:nvPr>
            <p:ph idx="1"/>
          </p:nvPr>
        </p:nvSpPr>
        <p:spPr>
          <a:xfrm>
            <a:off x="1706062" y="1943750"/>
            <a:ext cx="9236258" cy="3318582"/>
          </a:xfrm>
        </p:spPr>
        <p:txBody>
          <a:bodyPr>
            <a:noAutofit/>
          </a:bodyPr>
          <a:lstStyle/>
          <a:p>
            <a:pPr marR="0" lvl="0" algn="just">
              <a:spcBef>
                <a:spcPts val="300"/>
              </a:spcBef>
              <a:spcAft>
                <a:spcPts val="1000"/>
              </a:spcAft>
              <a:buFont typeface="Wingdings" panose="05000000000000000000" pitchFamily="2" charset="2"/>
              <a:buChar char="Ø"/>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It is must require when a file system wants to create or delete a file</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spcBef>
                <a:spcPts val="300"/>
              </a:spcBef>
              <a:spcAft>
                <a:spcPts val="1000"/>
              </a:spcAft>
              <a:buFont typeface="Wingdings" panose="05000000000000000000" pitchFamily="2" charset="2"/>
              <a:buChar char="Ø"/>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Network connections require the system calls to sending and receiving data packets</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spcBef>
                <a:spcPts val="300"/>
              </a:spcBef>
              <a:spcAft>
                <a:spcPts val="1000"/>
              </a:spcAft>
              <a:buFont typeface="Wingdings" panose="05000000000000000000" pitchFamily="2" charset="2"/>
              <a:buChar char="Ø"/>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If you want to read or write a file, you need to system calls</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spcBef>
                <a:spcPts val="300"/>
              </a:spcBef>
              <a:spcAft>
                <a:spcPts val="1000"/>
              </a:spcAft>
              <a:buFont typeface="Wingdings" panose="05000000000000000000" pitchFamily="2" charset="2"/>
              <a:buChar char="Ø"/>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If you want to access hardware devices, including a printer, scanner, you need a system call</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spcBef>
                <a:spcPts val="300"/>
              </a:spcBef>
              <a:spcAft>
                <a:spcPts val="1000"/>
              </a:spcAft>
              <a:buFont typeface="Wingdings" panose="05000000000000000000" pitchFamily="2" charset="2"/>
              <a:buChar char="Ø"/>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System calls are used to create and manage new processes</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buFont typeface="Wingdings" panose="05000000000000000000" pitchFamily="2" charset="2"/>
              <a:buChar char="Ø"/>
            </a:pP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776ACB69-4111-4130-BFC8-BD66D00B4F19}"/>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0E3F76DE-77F2-4746-9241-1B9D9BA105F3}"/>
              </a:ext>
            </a:extLst>
          </p:cNvPr>
          <p:cNvSpPr>
            <a:spLocks noGrp="1"/>
          </p:cNvSpPr>
          <p:nvPr>
            <p:ph type="dt" sz="half" idx="10"/>
          </p:nvPr>
        </p:nvSpPr>
        <p:spPr/>
        <p:txBody>
          <a:bodyPr/>
          <a:lstStyle/>
          <a:p>
            <a:fld id="{DAE23DF4-607F-4009-85DC-A3ACAFA1C7E0}" type="datetime1">
              <a:rPr lang="en-US" smtClean="0"/>
              <a:t>2/22/2026</a:t>
            </a:fld>
            <a:endParaRPr lang="en-US" dirty="0"/>
          </a:p>
        </p:txBody>
      </p:sp>
      <p:sp>
        <p:nvSpPr>
          <p:cNvPr id="6" name="Slide Number Placeholder 5">
            <a:extLst>
              <a:ext uri="{FF2B5EF4-FFF2-40B4-BE49-F238E27FC236}">
                <a16:creationId xmlns:a16="http://schemas.microsoft.com/office/drawing/2014/main" id="{44452DC1-4A02-4EE1-97DF-9C64198455C9}"/>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899098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5660-ED25-429A-91DA-6E0D631C27A4}"/>
              </a:ext>
            </a:extLst>
          </p:cNvPr>
          <p:cNvSpPr>
            <a:spLocks noGrp="1"/>
          </p:cNvSpPr>
          <p:nvPr>
            <p:ph type="title"/>
          </p:nvPr>
        </p:nvSpPr>
        <p:spPr/>
        <p:txBody>
          <a:bodyPr>
            <a:noAutofit/>
          </a:bodyPr>
          <a:lstStyle/>
          <a:p>
            <a:br>
              <a:rPr lang="en-US" sz="32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32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How system calls work</a:t>
            </a:r>
            <a:br>
              <a:rPr lang="en-US" sz="3200" b="1"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endParaRPr lang="en-US" sz="3200" b="1" cap="none"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4E1A52-4B46-4617-9FD9-53720BDDF6DF}"/>
              </a:ext>
            </a:extLst>
          </p:cNvPr>
          <p:cNvSpPr>
            <a:spLocks noGrp="1"/>
          </p:cNvSpPr>
          <p:nvPr>
            <p:ph idx="1"/>
          </p:nvPr>
        </p:nvSpPr>
        <p:spPr>
          <a:xfrm>
            <a:off x="278297" y="2638044"/>
            <a:ext cx="11622156" cy="3101983"/>
          </a:xfrm>
        </p:spPr>
        <p:txBody>
          <a:bodyPr>
            <a:noAutofit/>
          </a:bodyPr>
          <a:lstStyle/>
          <a:p>
            <a:pPr marL="0" marR="0" algn="just">
              <a:lnSpc>
                <a:spcPct val="115000"/>
              </a:lnSpc>
              <a:spcBef>
                <a:spcPts val="0"/>
              </a:spcBef>
              <a:spcAft>
                <a:spcPts val="1000"/>
              </a:spcAf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Applications run in an area of memory known as user space. A system call connects to the operating system's kernel, which executes in kernel space. When an application creates a system call, it must first obtain permission from the kernel. It achieves this using an interrupt request, which pauses the current process and transfers control to the kernel</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If the request is permitted, the kernel performs the requested action, like creating or deleting a file. As input, the application receives the kernel's output. The application resumes the procedure after the input is received. When the operation is finished, the kernel returns the results to the application and then moves data from kernel space to user space in memory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F9818B2B-5B0B-476F-BA5C-44B449F23D05}"/>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9719F8E0-9B8E-4155-9A6D-57A2E260B20C}"/>
              </a:ext>
            </a:extLst>
          </p:cNvPr>
          <p:cNvSpPr>
            <a:spLocks noGrp="1"/>
          </p:cNvSpPr>
          <p:nvPr>
            <p:ph type="dt" sz="half" idx="10"/>
          </p:nvPr>
        </p:nvSpPr>
        <p:spPr/>
        <p:txBody>
          <a:bodyPr/>
          <a:lstStyle/>
          <a:p>
            <a:fld id="{C37D0928-69FE-47ED-A70C-E20A02A513FB}" type="datetime1">
              <a:rPr lang="en-US" smtClean="0"/>
              <a:t>2/22/2026</a:t>
            </a:fld>
            <a:endParaRPr lang="en-US" dirty="0"/>
          </a:p>
        </p:txBody>
      </p:sp>
      <p:sp>
        <p:nvSpPr>
          <p:cNvPr id="6" name="Slide Number Placeholder 5">
            <a:extLst>
              <a:ext uri="{FF2B5EF4-FFF2-40B4-BE49-F238E27FC236}">
                <a16:creationId xmlns:a16="http://schemas.microsoft.com/office/drawing/2014/main" id="{7770562F-6128-43D2-88D0-148741856227}"/>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443862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CB73B-E5EB-4E47-BBB0-DAE9B996E37A}"/>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4CB75EEB-BB28-4EEC-87DE-5CF1703E4C81}"/>
              </a:ext>
            </a:extLst>
          </p:cNvPr>
          <p:cNvSpPr>
            <a:spLocks noGrp="1"/>
          </p:cNvSpPr>
          <p:nvPr>
            <p:ph idx="1"/>
          </p:nvPr>
        </p:nvSpPr>
        <p:spPr>
          <a:xfrm>
            <a:off x="371061" y="2638044"/>
            <a:ext cx="11237843" cy="3101983"/>
          </a:xfrm>
        </p:spPr>
        <p:txBody>
          <a:bodyPr>
            <a:normAutofit/>
          </a:bodyPr>
          <a:lstStyle/>
          <a:p>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simple system call may take few nanoseconds to provide the result, like retrieving the system date and time. A more complicated system call, such as connecting to a network device, may take a few seconds. Most operating systems launch a distinct kernel thread for each system call to avoid bottlenecks. Modern operating systems are multi-threaded, which means they can handle various system calls at the same time</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6" name="Picture 5" descr="A picture containing text, clipart&#10;&#10;Description automatically generated">
            <a:extLst>
              <a:ext uri="{FF2B5EF4-FFF2-40B4-BE49-F238E27FC236}">
                <a16:creationId xmlns:a16="http://schemas.microsoft.com/office/drawing/2014/main" id="{D6560914-A809-4ABA-BF3F-F0B8B4B70E34}"/>
              </a:ext>
            </a:extLst>
          </p:cNvPr>
          <p:cNvPicPr>
            <a:picLocks noChangeAspect="1"/>
          </p:cNvPicPr>
          <p:nvPr/>
        </p:nvPicPr>
        <p:blipFill>
          <a:blip r:embed="rId2"/>
          <a:stretch>
            <a:fillRect/>
          </a:stretch>
        </p:blipFill>
        <p:spPr>
          <a:xfrm>
            <a:off x="10918982" y="0"/>
            <a:ext cx="1273018" cy="1248669"/>
          </a:xfrm>
          <a:prstGeom prst="rect">
            <a:avLst/>
          </a:prstGeom>
        </p:spPr>
      </p:pic>
      <p:sp>
        <p:nvSpPr>
          <p:cNvPr id="7" name="Date Placeholder 6">
            <a:extLst>
              <a:ext uri="{FF2B5EF4-FFF2-40B4-BE49-F238E27FC236}">
                <a16:creationId xmlns:a16="http://schemas.microsoft.com/office/drawing/2014/main" id="{61A23FF7-6363-4BA2-853E-D3B11213B1AD}"/>
              </a:ext>
            </a:extLst>
          </p:cNvPr>
          <p:cNvSpPr>
            <a:spLocks noGrp="1"/>
          </p:cNvSpPr>
          <p:nvPr>
            <p:ph type="dt" sz="half" idx="10"/>
          </p:nvPr>
        </p:nvSpPr>
        <p:spPr/>
        <p:txBody>
          <a:bodyPr/>
          <a:lstStyle/>
          <a:p>
            <a:fld id="{9B099A2B-64DF-435C-8BEF-3A931BD02288}" type="datetime1">
              <a:rPr lang="en-US" smtClean="0"/>
              <a:t>2/22/2026</a:t>
            </a:fld>
            <a:endParaRPr lang="en-US" dirty="0"/>
          </a:p>
        </p:txBody>
      </p:sp>
      <p:sp>
        <p:nvSpPr>
          <p:cNvPr id="8" name="Slide Number Placeholder 7">
            <a:extLst>
              <a:ext uri="{FF2B5EF4-FFF2-40B4-BE49-F238E27FC236}">
                <a16:creationId xmlns:a16="http://schemas.microsoft.com/office/drawing/2014/main" id="{D14AE854-84CB-4D9A-A7DE-AB048AD280FF}"/>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1258325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232104-6B10-4644-9851-542EB889798C}"/>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sz="3200" b="1" cap="none" dirty="0">
                <a:latin typeface="Times New Roman" panose="02020603050405020304" pitchFamily="18" charset="0"/>
                <a:cs typeface="Times New Roman" panose="02020603050405020304" pitchFamily="18" charset="0"/>
              </a:rPr>
              <a:t>Example of system calls</a:t>
            </a:r>
          </a:p>
        </p:txBody>
      </p:sp>
      <p:pic>
        <p:nvPicPr>
          <p:cNvPr id="4" name="Content Placeholder 3" descr="Graphical user interface, text, application, chat or text message&#10;&#10;Description automatically generated">
            <a:extLst>
              <a:ext uri="{FF2B5EF4-FFF2-40B4-BE49-F238E27FC236}">
                <a16:creationId xmlns:a16="http://schemas.microsoft.com/office/drawing/2014/main" id="{DEB5E5DB-2415-4D13-8A34-FE642A8673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43369" y="1416947"/>
            <a:ext cx="7238880" cy="49043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A picture containing text, clipart&#10;&#10;Description automatically generated">
            <a:extLst>
              <a:ext uri="{FF2B5EF4-FFF2-40B4-BE49-F238E27FC236}">
                <a16:creationId xmlns:a16="http://schemas.microsoft.com/office/drawing/2014/main" id="{1D7276DE-FB2A-4C8F-9C8B-B76F22DF6CB5}"/>
              </a:ext>
            </a:extLst>
          </p:cNvPr>
          <p:cNvPicPr>
            <a:picLocks noChangeAspect="1"/>
          </p:cNvPicPr>
          <p:nvPr/>
        </p:nvPicPr>
        <p:blipFill>
          <a:blip r:embed="rId3"/>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CCA2E16C-A7B1-43AC-B357-B8452FA71084}"/>
              </a:ext>
            </a:extLst>
          </p:cNvPr>
          <p:cNvSpPr>
            <a:spLocks noGrp="1"/>
          </p:cNvSpPr>
          <p:nvPr>
            <p:ph type="dt" sz="half" idx="10"/>
          </p:nvPr>
        </p:nvSpPr>
        <p:spPr/>
        <p:txBody>
          <a:bodyPr/>
          <a:lstStyle/>
          <a:p>
            <a:fld id="{DB83E8DA-6397-4111-AC46-ED775AB865F4}" type="datetime1">
              <a:rPr lang="en-US" smtClean="0"/>
              <a:t>2/22/2026</a:t>
            </a:fld>
            <a:endParaRPr lang="en-US" dirty="0"/>
          </a:p>
        </p:txBody>
      </p:sp>
      <p:sp>
        <p:nvSpPr>
          <p:cNvPr id="6" name="Slide Number Placeholder 5">
            <a:extLst>
              <a:ext uri="{FF2B5EF4-FFF2-40B4-BE49-F238E27FC236}">
                <a16:creationId xmlns:a16="http://schemas.microsoft.com/office/drawing/2014/main" id="{960E4D29-6A50-440F-9A18-75BC4259C41F}"/>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2296715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FAAC1-7EF1-4C3E-BDBA-15C02A56D1C8}"/>
              </a:ext>
            </a:extLst>
          </p:cNvPr>
          <p:cNvSpPr>
            <a:spLocks noGrp="1"/>
          </p:cNvSpPr>
          <p:nvPr>
            <p:ph type="title"/>
          </p:nvPr>
        </p:nvSpPr>
        <p:spPr/>
        <p:txBody>
          <a:bodyPr>
            <a:normAutofit/>
          </a:bodyPr>
          <a:lstStyle/>
          <a:p>
            <a:r>
              <a:rPr lang="en-US" sz="3200" b="1" cap="none" dirty="0">
                <a:latin typeface="Times New Roman" panose="02020603050405020304" pitchFamily="18" charset="0"/>
                <a:cs typeface="Times New Roman" panose="02020603050405020304" pitchFamily="18" charset="0"/>
              </a:rPr>
              <a:t>System call implementation</a:t>
            </a:r>
          </a:p>
        </p:txBody>
      </p:sp>
      <p:sp>
        <p:nvSpPr>
          <p:cNvPr id="3" name="Content Placeholder 2">
            <a:extLst>
              <a:ext uri="{FF2B5EF4-FFF2-40B4-BE49-F238E27FC236}">
                <a16:creationId xmlns:a16="http://schemas.microsoft.com/office/drawing/2014/main" id="{26BCB093-9B1D-478C-AE30-852A503F26EF}"/>
              </a:ext>
            </a:extLst>
          </p:cNvPr>
          <p:cNvSpPr>
            <a:spLocks noGrp="1"/>
          </p:cNvSpPr>
          <p:nvPr>
            <p:ph idx="1"/>
          </p:nvPr>
        </p:nvSpPr>
        <p:spPr>
          <a:xfrm>
            <a:off x="337930" y="2266982"/>
            <a:ext cx="11516139" cy="3101983"/>
          </a:xfrm>
        </p:spPr>
        <p:txBody>
          <a:bodyPr>
            <a:noAutofit/>
          </a:bodyPr>
          <a:lstStyle/>
          <a:p>
            <a:pPr algn="just"/>
            <a:r>
              <a:rPr lang="en-US" sz="2400" dirty="0">
                <a:latin typeface="Times New Roman" panose="02020603050405020304" pitchFamily="18" charset="0"/>
                <a:cs typeface="Times New Roman" panose="02020603050405020304" pitchFamily="18" charset="0"/>
              </a:rPr>
              <a:t>Typically, a number associated with each system call </a:t>
            </a:r>
          </a:p>
          <a:p>
            <a:pPr marL="228600" lvl="1" indent="0" algn="just">
              <a:buNone/>
            </a:pPr>
            <a:r>
              <a:rPr lang="en-US" sz="2400" dirty="0">
                <a:latin typeface="Times New Roman" panose="02020603050405020304" pitchFamily="18" charset="0"/>
                <a:cs typeface="Times New Roman" panose="02020603050405020304" pitchFamily="18" charset="0"/>
              </a:rPr>
              <a:t>	  – System-call interface maintains a table indexed according to these numbers</a:t>
            </a:r>
          </a:p>
          <a:p>
            <a:pPr algn="just"/>
            <a:r>
              <a:rPr lang="en-US" sz="2400" dirty="0">
                <a:latin typeface="Times New Roman" panose="02020603050405020304" pitchFamily="18" charset="0"/>
                <a:cs typeface="Times New Roman" panose="02020603050405020304" pitchFamily="18" charset="0"/>
              </a:rPr>
              <a:t>The system call interface invokes intended system call in OS kernel and returns status of the system call and any return values </a:t>
            </a:r>
          </a:p>
          <a:p>
            <a:pPr algn="just"/>
            <a:r>
              <a:rPr lang="en-US" sz="2400" dirty="0">
                <a:latin typeface="Times New Roman" panose="02020603050405020304" pitchFamily="18" charset="0"/>
                <a:cs typeface="Times New Roman" panose="02020603050405020304" pitchFamily="18" charset="0"/>
              </a:rPr>
              <a:t>The caller need know nothing about how the system call is implemented</a:t>
            </a:r>
          </a:p>
          <a:p>
            <a:pPr marL="228600" lvl="1" indent="0" algn="just">
              <a:buNone/>
            </a:pPr>
            <a:r>
              <a:rPr lang="en-US" sz="2400" dirty="0">
                <a:latin typeface="Times New Roman" panose="02020603050405020304" pitchFamily="18" charset="0"/>
                <a:cs typeface="Times New Roman" panose="02020603050405020304" pitchFamily="18" charset="0"/>
              </a:rPr>
              <a:t>	  – Just needs to obey API and understand what OS will do as a result call</a:t>
            </a:r>
          </a:p>
          <a:p>
            <a:pPr marL="228600" lvl="1" indent="0" algn="just">
              <a:buNone/>
            </a:pPr>
            <a:r>
              <a:rPr lang="en-US" sz="2400" dirty="0">
                <a:latin typeface="Times New Roman" panose="02020603050405020304" pitchFamily="18" charset="0"/>
                <a:cs typeface="Times New Roman" panose="02020603050405020304" pitchFamily="18" charset="0"/>
              </a:rPr>
              <a:t>	 – Most details of OS interface hidden from programmer by API</a:t>
            </a:r>
          </a:p>
          <a:p>
            <a:pPr algn="just"/>
            <a:r>
              <a:rPr lang="en-US" sz="2400" dirty="0">
                <a:latin typeface="Times New Roman" panose="02020603050405020304" pitchFamily="18" charset="0"/>
                <a:cs typeface="Times New Roman" panose="02020603050405020304" pitchFamily="18" charset="0"/>
              </a:rPr>
              <a:t>Managed by run-time support library (set of functions built into libraries included with compiler) </a:t>
            </a:r>
          </a:p>
        </p:txBody>
      </p:sp>
      <p:pic>
        <p:nvPicPr>
          <p:cNvPr id="4" name="Picture 3" descr="A picture containing text, clipart&#10;&#10;Description automatically generated">
            <a:extLst>
              <a:ext uri="{FF2B5EF4-FFF2-40B4-BE49-F238E27FC236}">
                <a16:creationId xmlns:a16="http://schemas.microsoft.com/office/drawing/2014/main" id="{D0425087-CECD-462F-9265-115045611C17}"/>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7ACB406C-4904-445F-92B4-2BEF91FCCE51}"/>
              </a:ext>
            </a:extLst>
          </p:cNvPr>
          <p:cNvSpPr>
            <a:spLocks noGrp="1"/>
          </p:cNvSpPr>
          <p:nvPr>
            <p:ph type="dt" sz="half" idx="10"/>
          </p:nvPr>
        </p:nvSpPr>
        <p:spPr/>
        <p:txBody>
          <a:bodyPr/>
          <a:lstStyle/>
          <a:p>
            <a:fld id="{8F077134-4EAA-418A-A8F4-9FC2798C3D2A}" type="datetime1">
              <a:rPr lang="en-US" smtClean="0"/>
              <a:t>2/22/2026</a:t>
            </a:fld>
            <a:endParaRPr lang="en-US" dirty="0"/>
          </a:p>
        </p:txBody>
      </p:sp>
      <p:sp>
        <p:nvSpPr>
          <p:cNvPr id="6" name="Slide Number Placeholder 5">
            <a:extLst>
              <a:ext uri="{FF2B5EF4-FFF2-40B4-BE49-F238E27FC236}">
                <a16:creationId xmlns:a16="http://schemas.microsoft.com/office/drawing/2014/main" id="{CE889B12-C49B-4276-9983-F9B0915D2CD6}"/>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2251838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4AA9D-1917-4074-8951-466B33ED4D47}"/>
              </a:ext>
            </a:extLst>
          </p:cNvPr>
          <p:cNvSpPr>
            <a:spLocks noGrp="1"/>
          </p:cNvSpPr>
          <p:nvPr>
            <p:ph type="title"/>
          </p:nvPr>
        </p:nvSpPr>
        <p:spPr>
          <a:xfrm>
            <a:off x="2313300" y="423779"/>
            <a:ext cx="7729728" cy="1188720"/>
          </a:xfrm>
        </p:spPr>
        <p:txBody>
          <a:bodyPr/>
          <a:lstStyle/>
          <a:p>
            <a:r>
              <a:rPr lang="en-US" cap="none" dirty="0">
                <a:latin typeface="Times New Roman" pitchFamily="18" charset="0"/>
                <a:cs typeface="Times New Roman" pitchFamily="18" charset="0"/>
              </a:rPr>
              <a:t>Cont..</a:t>
            </a:r>
          </a:p>
        </p:txBody>
      </p:sp>
      <p:sp>
        <p:nvSpPr>
          <p:cNvPr id="3" name="Content Placeholder 2">
            <a:extLst>
              <a:ext uri="{FF2B5EF4-FFF2-40B4-BE49-F238E27FC236}">
                <a16:creationId xmlns:a16="http://schemas.microsoft.com/office/drawing/2014/main" id="{39D1B298-6A4B-48B9-89DE-F59B6D3AD019}"/>
              </a:ext>
            </a:extLst>
          </p:cNvPr>
          <p:cNvSpPr>
            <a:spLocks noGrp="1"/>
          </p:cNvSpPr>
          <p:nvPr>
            <p:ph idx="1"/>
          </p:nvPr>
        </p:nvSpPr>
        <p:spPr/>
        <p:txBody>
          <a:bodyPr/>
          <a:lstStyle/>
          <a:p>
            <a:endParaRPr lang="en-US" dirty="0"/>
          </a:p>
        </p:txBody>
      </p:sp>
      <p:pic>
        <p:nvPicPr>
          <p:cNvPr id="4" name="Picture 3" descr="2">
            <a:extLst>
              <a:ext uri="{FF2B5EF4-FFF2-40B4-BE49-F238E27FC236}">
                <a16:creationId xmlns:a16="http://schemas.microsoft.com/office/drawing/2014/main" id="{66F562E1-9758-4947-870C-F37D88FE9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300" y="2088256"/>
            <a:ext cx="715327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A picture containing text, clipart&#10;&#10;Description automatically generated">
            <a:extLst>
              <a:ext uri="{FF2B5EF4-FFF2-40B4-BE49-F238E27FC236}">
                <a16:creationId xmlns:a16="http://schemas.microsoft.com/office/drawing/2014/main" id="{C4EA0861-694B-4C20-A5F9-289E769FA127}"/>
              </a:ext>
            </a:extLst>
          </p:cNvPr>
          <p:cNvPicPr>
            <a:picLocks noChangeAspect="1"/>
          </p:cNvPicPr>
          <p:nvPr/>
        </p:nvPicPr>
        <p:blipFill>
          <a:blip r:embed="rId3"/>
          <a:stretch>
            <a:fillRect/>
          </a:stretch>
        </p:blipFill>
        <p:spPr>
          <a:xfrm>
            <a:off x="10918982" y="0"/>
            <a:ext cx="1273018" cy="1248669"/>
          </a:xfrm>
          <a:prstGeom prst="rect">
            <a:avLst/>
          </a:prstGeom>
        </p:spPr>
      </p:pic>
      <p:sp>
        <p:nvSpPr>
          <p:cNvPr id="6" name="Date Placeholder 5">
            <a:extLst>
              <a:ext uri="{FF2B5EF4-FFF2-40B4-BE49-F238E27FC236}">
                <a16:creationId xmlns:a16="http://schemas.microsoft.com/office/drawing/2014/main" id="{DA5C67AB-ACF7-4B91-93ED-723D03A23EA9}"/>
              </a:ext>
            </a:extLst>
          </p:cNvPr>
          <p:cNvSpPr>
            <a:spLocks noGrp="1"/>
          </p:cNvSpPr>
          <p:nvPr>
            <p:ph type="dt" sz="half" idx="10"/>
          </p:nvPr>
        </p:nvSpPr>
        <p:spPr/>
        <p:txBody>
          <a:bodyPr/>
          <a:lstStyle/>
          <a:p>
            <a:fld id="{C13BEF22-7057-4ACC-9582-87B1D7D50FA8}" type="datetime1">
              <a:rPr lang="en-US" smtClean="0"/>
              <a:t>2/22/2026</a:t>
            </a:fld>
            <a:endParaRPr lang="en-US" dirty="0"/>
          </a:p>
        </p:txBody>
      </p:sp>
      <p:sp>
        <p:nvSpPr>
          <p:cNvPr id="7" name="Slide Number Placeholder 6">
            <a:extLst>
              <a:ext uri="{FF2B5EF4-FFF2-40B4-BE49-F238E27FC236}">
                <a16:creationId xmlns:a16="http://schemas.microsoft.com/office/drawing/2014/main" id="{D3C7F40F-82C9-4AF1-BCED-5C01855C934B}"/>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138282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75E9F2-7522-42B9-8187-E854CDC11B08}"/>
              </a:ext>
            </a:extLst>
          </p:cNvPr>
          <p:cNvSpPr>
            <a:spLocks noGrp="1"/>
          </p:cNvSpPr>
          <p:nvPr>
            <p:ph type="title"/>
          </p:nvPr>
        </p:nvSpPr>
        <p:spPr>
          <a:xfrm>
            <a:off x="2231136" y="467418"/>
            <a:ext cx="7729728" cy="1188720"/>
          </a:xfrm>
          <a:solidFill>
            <a:srgbClr val="FFFFFF"/>
          </a:solidFill>
        </p:spPr>
        <p:txBody>
          <a:bodyPr>
            <a:normAutofit/>
          </a:bodyPr>
          <a:lstStyle/>
          <a:p>
            <a:r>
              <a:rPr lang="en-US" b="1" cap="none" dirty="0">
                <a:latin typeface="Times New Roman" panose="02020603050405020304" pitchFamily="18" charset="0"/>
                <a:cs typeface="Times New Roman" panose="02020603050405020304" pitchFamily="18" charset="0"/>
              </a:rPr>
              <a:t>System call parameter passing</a:t>
            </a:r>
          </a:p>
        </p:txBody>
      </p:sp>
      <p:sp>
        <p:nvSpPr>
          <p:cNvPr id="3" name="Content Placeholder 2">
            <a:extLst>
              <a:ext uri="{FF2B5EF4-FFF2-40B4-BE49-F238E27FC236}">
                <a16:creationId xmlns:a16="http://schemas.microsoft.com/office/drawing/2014/main" id="{F045C144-F678-4C91-BF39-1FBEA04DBB79}"/>
              </a:ext>
            </a:extLst>
          </p:cNvPr>
          <p:cNvSpPr>
            <a:spLocks noGrp="1"/>
          </p:cNvSpPr>
          <p:nvPr>
            <p:ph idx="1"/>
          </p:nvPr>
        </p:nvSpPr>
        <p:spPr>
          <a:xfrm>
            <a:off x="1477871" y="2249424"/>
            <a:ext cx="9236258" cy="2879256"/>
          </a:xfrm>
        </p:spPr>
        <p:txBody>
          <a:bodyPr>
            <a:noAutofit/>
          </a:bodyPr>
          <a:lstStyle/>
          <a:p>
            <a:r>
              <a:rPr lang="en-US" sz="2400" dirty="0">
                <a:solidFill>
                  <a:schemeClr val="tx1"/>
                </a:solidFill>
                <a:latin typeface="Times New Roman" panose="02020603050405020304" pitchFamily="18" charset="0"/>
                <a:cs typeface="Times New Roman" panose="02020603050405020304" pitchFamily="18" charset="0"/>
              </a:rPr>
              <a:t>Often, more information is required than simply identity of desired system call</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 Exact type and amount of information vary according to OS and call</a:t>
            </a:r>
          </a:p>
          <a:p>
            <a:r>
              <a:rPr lang="en-US" sz="2400" dirty="0">
                <a:solidFill>
                  <a:schemeClr val="tx1"/>
                </a:solidFill>
                <a:latin typeface="Times New Roman" panose="02020603050405020304" pitchFamily="18" charset="0"/>
                <a:cs typeface="Times New Roman" panose="02020603050405020304" pitchFamily="18" charset="0"/>
              </a:rPr>
              <a:t>Three general methods used to pass parameters to the OS</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1. Simplest: pass the parameters in registers</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 In some cases, may be more parameters than registers</a:t>
            </a:r>
          </a:p>
        </p:txBody>
      </p:sp>
      <p:pic>
        <p:nvPicPr>
          <p:cNvPr id="7" name="Picture 6" descr="A picture containing text, clipart&#10;&#10;Description automatically generated">
            <a:extLst>
              <a:ext uri="{FF2B5EF4-FFF2-40B4-BE49-F238E27FC236}">
                <a16:creationId xmlns:a16="http://schemas.microsoft.com/office/drawing/2014/main" id="{C56D204F-B97A-4470-99A5-05608213E760}"/>
              </a:ext>
            </a:extLst>
          </p:cNvPr>
          <p:cNvPicPr>
            <a:picLocks noChangeAspect="1"/>
          </p:cNvPicPr>
          <p:nvPr/>
        </p:nvPicPr>
        <p:blipFill>
          <a:blip r:embed="rId2"/>
          <a:stretch>
            <a:fillRect/>
          </a:stretch>
        </p:blipFill>
        <p:spPr>
          <a:xfrm>
            <a:off x="10918982" y="0"/>
            <a:ext cx="1273018" cy="1248669"/>
          </a:xfrm>
          <a:prstGeom prst="rect">
            <a:avLst/>
          </a:prstGeom>
        </p:spPr>
      </p:pic>
      <p:sp>
        <p:nvSpPr>
          <p:cNvPr id="4" name="Date Placeholder 3">
            <a:extLst>
              <a:ext uri="{FF2B5EF4-FFF2-40B4-BE49-F238E27FC236}">
                <a16:creationId xmlns:a16="http://schemas.microsoft.com/office/drawing/2014/main" id="{74AEA6A5-B284-4F06-8594-179494C17EA0}"/>
              </a:ext>
            </a:extLst>
          </p:cNvPr>
          <p:cNvSpPr>
            <a:spLocks noGrp="1"/>
          </p:cNvSpPr>
          <p:nvPr>
            <p:ph type="dt" sz="half" idx="10"/>
          </p:nvPr>
        </p:nvSpPr>
        <p:spPr/>
        <p:txBody>
          <a:bodyPr/>
          <a:lstStyle/>
          <a:p>
            <a:fld id="{83FDCDEF-CEF7-4FAA-B742-4773A7386B8D}" type="datetime1">
              <a:rPr lang="en-US" smtClean="0"/>
              <a:t>2/22/2026</a:t>
            </a:fld>
            <a:endParaRPr lang="en-US" dirty="0"/>
          </a:p>
        </p:txBody>
      </p:sp>
      <p:sp>
        <p:nvSpPr>
          <p:cNvPr id="5" name="Slide Number Placeholder 4">
            <a:extLst>
              <a:ext uri="{FF2B5EF4-FFF2-40B4-BE49-F238E27FC236}">
                <a16:creationId xmlns:a16="http://schemas.microsoft.com/office/drawing/2014/main" id="{98535004-0191-494F-A673-58FAF9DB1C94}"/>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623875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0FC339-B580-4E9E-8C24-607B36DA6928}"/>
              </a:ext>
            </a:extLst>
          </p:cNvPr>
          <p:cNvSpPr>
            <a:spLocks noGrp="1"/>
          </p:cNvSpPr>
          <p:nvPr>
            <p:ph type="title"/>
          </p:nvPr>
        </p:nvSpPr>
        <p:spPr>
          <a:xfrm>
            <a:off x="2231136" y="467418"/>
            <a:ext cx="7729728" cy="1188720"/>
          </a:xfrm>
          <a:solidFill>
            <a:srgbClr val="FFFFFF"/>
          </a:solidFill>
        </p:spPr>
        <p:txBody>
          <a:bodyPr>
            <a:normAutofit/>
          </a:bodyPr>
          <a:lstStyle/>
          <a:p>
            <a:r>
              <a:rPr lang="en-US" b="1" cap="none"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91340D63-42C2-4C4C-9DA3-86B52CAE69C6}"/>
              </a:ext>
            </a:extLst>
          </p:cNvPr>
          <p:cNvSpPr>
            <a:spLocks noGrp="1"/>
          </p:cNvSpPr>
          <p:nvPr>
            <p:ph idx="1"/>
          </p:nvPr>
        </p:nvSpPr>
        <p:spPr>
          <a:xfrm>
            <a:off x="1706062" y="2291262"/>
            <a:ext cx="8779512" cy="2879256"/>
          </a:xfrm>
        </p:spPr>
        <p:txBody>
          <a:bodyPr>
            <a:noAutofit/>
          </a:bodyPr>
          <a:lstStyle/>
          <a:p>
            <a:pPr marL="0" indent="0">
              <a:buNone/>
            </a:pPr>
            <a:r>
              <a:rPr lang="en-US" sz="2400" dirty="0">
                <a:solidFill>
                  <a:schemeClr val="tx1"/>
                </a:solidFill>
                <a:latin typeface="Times New Roman" panose="02020603050405020304" pitchFamily="18" charset="0"/>
                <a:cs typeface="Times New Roman" panose="02020603050405020304" pitchFamily="18" charset="0"/>
              </a:rPr>
              <a:t>2. Parameters stored in a block, or table, in memory, and address of block passed as a parameter in a register </a:t>
            </a:r>
          </a:p>
          <a:p>
            <a:pPr marL="228600" lvl="1" indent="0">
              <a:buNone/>
            </a:pPr>
            <a:r>
              <a:rPr lang="en-US" sz="2400" dirty="0">
                <a:solidFill>
                  <a:schemeClr val="tx1"/>
                </a:solidFill>
                <a:latin typeface="Times New Roman" panose="02020603050405020304" pitchFamily="18" charset="0"/>
                <a:cs typeface="Times New Roman" panose="02020603050405020304" pitchFamily="18" charset="0"/>
              </a:rPr>
              <a:t>	• This approach taken by Linux and Solaris</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3.  Parameters placed, or pushed, onto the stack by the program and popped off the stack by the operating system </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 Block and stack methods do not limit the number or length of parameters being passed</a:t>
            </a:r>
          </a:p>
          <a:p>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7" name="Picture 6" descr="A picture containing text, clipart&#10;&#10;Description automatically generated">
            <a:extLst>
              <a:ext uri="{FF2B5EF4-FFF2-40B4-BE49-F238E27FC236}">
                <a16:creationId xmlns:a16="http://schemas.microsoft.com/office/drawing/2014/main" id="{23C0AD0F-5EA6-48E9-9CE3-B3BA20E1450F}"/>
              </a:ext>
            </a:extLst>
          </p:cNvPr>
          <p:cNvPicPr>
            <a:picLocks noChangeAspect="1"/>
          </p:cNvPicPr>
          <p:nvPr/>
        </p:nvPicPr>
        <p:blipFill>
          <a:blip r:embed="rId2"/>
          <a:stretch>
            <a:fillRect/>
          </a:stretch>
        </p:blipFill>
        <p:spPr>
          <a:xfrm>
            <a:off x="10918982" y="0"/>
            <a:ext cx="1273018" cy="1248669"/>
          </a:xfrm>
          <a:prstGeom prst="rect">
            <a:avLst/>
          </a:prstGeom>
        </p:spPr>
      </p:pic>
      <p:sp>
        <p:nvSpPr>
          <p:cNvPr id="4" name="Date Placeholder 3">
            <a:extLst>
              <a:ext uri="{FF2B5EF4-FFF2-40B4-BE49-F238E27FC236}">
                <a16:creationId xmlns:a16="http://schemas.microsoft.com/office/drawing/2014/main" id="{0B7D23C8-88C8-49D2-A9F9-40666151DED1}"/>
              </a:ext>
            </a:extLst>
          </p:cNvPr>
          <p:cNvSpPr>
            <a:spLocks noGrp="1"/>
          </p:cNvSpPr>
          <p:nvPr>
            <p:ph type="dt" sz="half" idx="10"/>
          </p:nvPr>
        </p:nvSpPr>
        <p:spPr/>
        <p:txBody>
          <a:bodyPr/>
          <a:lstStyle/>
          <a:p>
            <a:fld id="{B9430EE1-4C5C-4B24-B8E1-5BF50DB3DFA8}" type="datetime1">
              <a:rPr lang="en-US" smtClean="0"/>
              <a:t>2/22/2026</a:t>
            </a:fld>
            <a:endParaRPr lang="en-US" dirty="0"/>
          </a:p>
        </p:txBody>
      </p:sp>
      <p:sp>
        <p:nvSpPr>
          <p:cNvPr id="5" name="Slide Number Placeholder 4">
            <a:extLst>
              <a:ext uri="{FF2B5EF4-FFF2-40B4-BE49-F238E27FC236}">
                <a16:creationId xmlns:a16="http://schemas.microsoft.com/office/drawing/2014/main" id="{DCA71946-5A44-412E-8D8C-FA5E5243C09C}"/>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1355072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0CDF77-8F1B-49CC-9C89-A70E2D86E7F9}"/>
              </a:ext>
            </a:extLst>
          </p:cNvPr>
          <p:cNvSpPr>
            <a:spLocks noGrp="1"/>
          </p:cNvSpPr>
          <p:nvPr>
            <p:ph type="title"/>
          </p:nvPr>
        </p:nvSpPr>
        <p:spPr>
          <a:xfrm>
            <a:off x="844429" y="2404872"/>
            <a:ext cx="3044950" cy="1627792"/>
          </a:xfrm>
        </p:spPr>
        <p:txBody>
          <a:bodyPr vert="horz" lIns="274320" tIns="182880" rIns="274320" bIns="182880" rtlCol="0" anchor="ctr" anchorCtr="1">
            <a:noAutofit/>
          </a:bodyPr>
          <a:lstStyle/>
          <a:p>
            <a:r>
              <a:rPr lang="en-US" sz="3200" b="1" cap="none" dirty="0">
                <a:latin typeface="Times New Roman" panose="02020603050405020304" pitchFamily="18" charset="0"/>
                <a:cs typeface="Times New Roman" panose="02020603050405020304" pitchFamily="18" charset="0"/>
              </a:rPr>
              <a:t>Parameter passing via table</a:t>
            </a:r>
          </a:p>
        </p:txBody>
      </p:sp>
      <p:pic>
        <p:nvPicPr>
          <p:cNvPr id="5" name="Content Placeholder 4" descr="Diagram&#10;&#10;Description automatically generated">
            <a:extLst>
              <a:ext uri="{FF2B5EF4-FFF2-40B4-BE49-F238E27FC236}">
                <a16:creationId xmlns:a16="http://schemas.microsoft.com/office/drawing/2014/main" id="{7A41549B-C7D0-40EF-89B7-4CB117DF334A}"/>
              </a:ext>
            </a:extLst>
          </p:cNvPr>
          <p:cNvPicPr>
            <a:picLocks noGrp="1" noChangeAspect="1"/>
          </p:cNvPicPr>
          <p:nvPr>
            <p:ph idx="1"/>
          </p:nvPr>
        </p:nvPicPr>
        <p:blipFill>
          <a:blip r:embed="rId2"/>
          <a:stretch>
            <a:fillRect/>
          </a:stretch>
        </p:blipFill>
        <p:spPr>
          <a:xfrm>
            <a:off x="5255684" y="1713692"/>
            <a:ext cx="6659085" cy="4039204"/>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E559F8BD-E110-47B2-A7C1-D2DC1053A5C7}"/>
              </a:ext>
            </a:extLst>
          </p:cNvPr>
          <p:cNvPicPr>
            <a:picLocks noChangeAspect="1"/>
          </p:cNvPicPr>
          <p:nvPr/>
        </p:nvPicPr>
        <p:blipFill>
          <a:blip r:embed="rId3"/>
          <a:stretch>
            <a:fillRect/>
          </a:stretch>
        </p:blipFill>
        <p:spPr>
          <a:xfrm>
            <a:off x="10918982" y="0"/>
            <a:ext cx="1273018" cy="1248669"/>
          </a:xfrm>
          <a:prstGeom prst="rect">
            <a:avLst/>
          </a:prstGeom>
        </p:spPr>
      </p:pic>
      <p:sp>
        <p:nvSpPr>
          <p:cNvPr id="6" name="Date Placeholder 5">
            <a:extLst>
              <a:ext uri="{FF2B5EF4-FFF2-40B4-BE49-F238E27FC236}">
                <a16:creationId xmlns:a16="http://schemas.microsoft.com/office/drawing/2014/main" id="{A9A11B40-F832-47E7-9FCF-BC5052A3E164}"/>
              </a:ext>
            </a:extLst>
          </p:cNvPr>
          <p:cNvSpPr>
            <a:spLocks noGrp="1"/>
          </p:cNvSpPr>
          <p:nvPr>
            <p:ph type="dt" sz="half" idx="10"/>
          </p:nvPr>
        </p:nvSpPr>
        <p:spPr/>
        <p:txBody>
          <a:bodyPr/>
          <a:lstStyle/>
          <a:p>
            <a:fld id="{E5CDF07C-3810-4AB5-813E-9F3B1DF34090}" type="datetime1">
              <a:rPr lang="en-US" smtClean="0"/>
              <a:t>2/22/2026</a:t>
            </a:fld>
            <a:endParaRPr lang="en-US" dirty="0"/>
          </a:p>
        </p:txBody>
      </p:sp>
      <p:sp>
        <p:nvSpPr>
          <p:cNvPr id="7" name="Slide Number Placeholder 6">
            <a:extLst>
              <a:ext uri="{FF2B5EF4-FFF2-40B4-BE49-F238E27FC236}">
                <a16:creationId xmlns:a16="http://schemas.microsoft.com/office/drawing/2014/main" id="{11B0584E-6A70-480B-8258-8671A546007D}"/>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991547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5FA21C72-692C-49FD-9EB4-DDDDDEBD4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75405" y="950977"/>
            <a:ext cx="9041190" cy="4956047"/>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System Calls in Operating System">
            <a:extLst>
              <a:ext uri="{FF2B5EF4-FFF2-40B4-BE49-F238E27FC236}">
                <a16:creationId xmlns:a16="http://schemas.microsoft.com/office/drawing/2014/main" id="{E1C4E15D-1955-49FC-81CD-6C74ACC82C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12169" y="1271016"/>
            <a:ext cx="7823506" cy="4315968"/>
          </a:xfrm>
          <a:prstGeom prst="rect">
            <a:avLst/>
          </a:prstGeom>
          <a:noFill/>
          <a:extLst>
            <a:ext uri="{909E8E84-426E-40DD-AFC4-6F175D3DCCD1}">
              <a14:hiddenFill xmlns:a14="http://schemas.microsoft.com/office/drawing/2010/main">
                <a:solidFill>
                  <a:srgbClr val="FFFFFF"/>
                </a:solidFill>
              </a14:hiddenFill>
            </a:ext>
          </a:extLst>
        </p:spPr>
      </p:pic>
      <p:sp>
        <p:nvSpPr>
          <p:cNvPr id="73" name="Oval 72">
            <a:extLst>
              <a:ext uri="{FF2B5EF4-FFF2-40B4-BE49-F238E27FC236}">
                <a16:creationId xmlns:a16="http://schemas.microsoft.com/office/drawing/2014/main" id="{FBAF941A-6830-47A3-B63C-7C7B66AEA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380" y="624518"/>
            <a:ext cx="2157984" cy="2157984"/>
          </a:xfrm>
          <a:prstGeom prst="ellipse">
            <a:avLst/>
          </a:prstGeom>
          <a:solidFill>
            <a:srgbClr val="40404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D13462-53A3-4AD3-A3C1-607075DFBFB2}"/>
              </a:ext>
            </a:extLst>
          </p:cNvPr>
          <p:cNvSpPr>
            <a:spLocks noGrp="1"/>
          </p:cNvSpPr>
          <p:nvPr>
            <p:ph type="title"/>
          </p:nvPr>
        </p:nvSpPr>
        <p:spPr>
          <a:xfrm>
            <a:off x="796972" y="789110"/>
            <a:ext cx="1828800" cy="1828800"/>
          </a:xfrm>
          <a:prstGeom prst="ellipse">
            <a:avLst/>
          </a:prstGeom>
          <a:noFill/>
          <a:ln>
            <a:solidFill>
              <a:srgbClr val="FFFFFF"/>
            </a:solidFill>
          </a:ln>
        </p:spPr>
        <p:txBody>
          <a:bodyPr vert="horz" lIns="182880" tIns="182880" rIns="182880" bIns="182880" rtlCol="0" anchor="ctr">
            <a:normAutofit/>
          </a:bodyPr>
          <a:lstStyle/>
          <a:p>
            <a:r>
              <a:rPr lang="en-US" sz="1300" b="1" dirty="0">
                <a:solidFill>
                  <a:srgbClr val="FFFFFF"/>
                </a:solidFill>
                <a:effectLst/>
              </a:rPr>
              <a:t>Types of System Calls</a:t>
            </a:r>
            <a:br>
              <a:rPr lang="en-US" sz="1300" b="1" dirty="0">
                <a:solidFill>
                  <a:srgbClr val="FFFFFF"/>
                </a:solidFill>
                <a:effectLst/>
              </a:rPr>
            </a:br>
            <a:endParaRPr lang="en-US" sz="1300" dirty="0">
              <a:solidFill>
                <a:srgbClr val="FFFFFF"/>
              </a:solidFill>
            </a:endParaRPr>
          </a:p>
        </p:txBody>
      </p:sp>
      <p:pic>
        <p:nvPicPr>
          <p:cNvPr id="7" name="Picture 6" descr="A picture containing text, clipart&#10;&#10;Description automatically generated">
            <a:extLst>
              <a:ext uri="{FF2B5EF4-FFF2-40B4-BE49-F238E27FC236}">
                <a16:creationId xmlns:a16="http://schemas.microsoft.com/office/drawing/2014/main" id="{F7B92C6C-1C27-42A5-BD1B-347CA36B22F5}"/>
              </a:ext>
            </a:extLst>
          </p:cNvPr>
          <p:cNvPicPr>
            <a:picLocks noChangeAspect="1"/>
          </p:cNvPicPr>
          <p:nvPr/>
        </p:nvPicPr>
        <p:blipFill>
          <a:blip r:embed="rId3"/>
          <a:stretch>
            <a:fillRect/>
          </a:stretch>
        </p:blipFill>
        <p:spPr>
          <a:xfrm>
            <a:off x="10918982" y="0"/>
            <a:ext cx="1273018" cy="1248669"/>
          </a:xfrm>
          <a:prstGeom prst="rect">
            <a:avLst/>
          </a:prstGeom>
        </p:spPr>
      </p:pic>
      <p:sp>
        <p:nvSpPr>
          <p:cNvPr id="4" name="Date Placeholder 3">
            <a:extLst>
              <a:ext uri="{FF2B5EF4-FFF2-40B4-BE49-F238E27FC236}">
                <a16:creationId xmlns:a16="http://schemas.microsoft.com/office/drawing/2014/main" id="{9C7DE702-CF1B-401D-B2FB-C54986E4DE18}"/>
              </a:ext>
            </a:extLst>
          </p:cNvPr>
          <p:cNvSpPr>
            <a:spLocks noGrp="1"/>
          </p:cNvSpPr>
          <p:nvPr>
            <p:ph type="dt" sz="half" idx="10"/>
          </p:nvPr>
        </p:nvSpPr>
        <p:spPr/>
        <p:txBody>
          <a:bodyPr/>
          <a:lstStyle/>
          <a:p>
            <a:fld id="{B65689C8-9BC5-4701-B429-4A9E554A6A9F}" type="datetime1">
              <a:rPr lang="en-US" smtClean="0"/>
              <a:t>2/22/2026</a:t>
            </a:fld>
            <a:endParaRPr lang="en-US" dirty="0"/>
          </a:p>
        </p:txBody>
      </p:sp>
      <p:sp>
        <p:nvSpPr>
          <p:cNvPr id="5" name="Slide Number Placeholder 4">
            <a:extLst>
              <a:ext uri="{FF2B5EF4-FFF2-40B4-BE49-F238E27FC236}">
                <a16:creationId xmlns:a16="http://schemas.microsoft.com/office/drawing/2014/main" id="{9C01E55F-8885-42F2-A5EA-662D3FC7C23C}"/>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2648884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B1F99-E44E-4DD7-BE4B-E38D2F313D2E}"/>
              </a:ext>
            </a:extLst>
          </p:cNvPr>
          <p:cNvSpPr>
            <a:spLocks noGrp="1"/>
          </p:cNvSpPr>
          <p:nvPr>
            <p:ph type="title"/>
          </p:nvPr>
        </p:nvSpPr>
        <p:spPr/>
        <p:txBody>
          <a:bodyPr>
            <a:noAutofit/>
          </a:bodyPr>
          <a:lstStyle/>
          <a:p>
            <a:r>
              <a:rPr lang="en-US" sz="3200" b="1" cap="none" dirty="0">
                <a:effectLst/>
                <a:latin typeface="Times New Roman" panose="02020603050405020304" pitchFamily="18" charset="0"/>
                <a:ea typeface="Times New Roman" panose="02020603050405020304" pitchFamily="18" charset="0"/>
              </a:rPr>
              <a:t>Types of system calls(cont..)</a:t>
            </a:r>
            <a:br>
              <a:rPr lang="en-US" sz="3200" b="1" cap="none" dirty="0">
                <a:effectLst/>
                <a:latin typeface="Times New Roman" panose="02020603050405020304" pitchFamily="18" charset="0"/>
                <a:ea typeface="Times New Roman" panose="02020603050405020304" pitchFamily="18" charset="0"/>
              </a:rPr>
            </a:br>
            <a:endParaRPr lang="en-US" sz="3200" cap="none" dirty="0"/>
          </a:p>
        </p:txBody>
      </p:sp>
      <p:sp>
        <p:nvSpPr>
          <p:cNvPr id="3" name="Content Placeholder 2">
            <a:extLst>
              <a:ext uri="{FF2B5EF4-FFF2-40B4-BE49-F238E27FC236}">
                <a16:creationId xmlns:a16="http://schemas.microsoft.com/office/drawing/2014/main" id="{3225A6DA-791F-45D6-9C2D-FB0AB427B3B9}"/>
              </a:ext>
            </a:extLst>
          </p:cNvPr>
          <p:cNvSpPr>
            <a:spLocks noGrp="1"/>
          </p:cNvSpPr>
          <p:nvPr>
            <p:ph idx="1"/>
          </p:nvPr>
        </p:nvSpPr>
        <p:spPr>
          <a:xfrm>
            <a:off x="159026" y="2302830"/>
            <a:ext cx="11661913" cy="3590478"/>
          </a:xfrm>
        </p:spPr>
        <p:txBody>
          <a:bodyPr>
            <a:noAutofit/>
          </a:bodyPr>
          <a:lstStyle/>
          <a:p>
            <a:pPr marL="0" marR="0" algn="just">
              <a:lnSpc>
                <a:spcPct val="115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Process Control: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process creation, process termination etc.</a:t>
            </a:r>
          </a:p>
          <a:p>
            <a:pPr marL="0" marR="0" algn="just">
              <a:lnSpc>
                <a:spcPct val="115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File Management: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file manipulation such as creating a file, reading a file, writing into a 	file etc.</a:t>
            </a:r>
          </a:p>
          <a:p>
            <a:pPr marL="0" marR="0" algn="just">
              <a:lnSpc>
                <a:spcPct val="115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Device Management: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device manipulation such as reading from device buffers, writing 	into device </a:t>
            </a: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buffers etc.</a:t>
            </a:r>
            <a:endPar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Information Maintenance: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handle information and its transfer between the operating 	system and the user program.</a:t>
            </a:r>
          </a:p>
          <a:p>
            <a:pPr marL="0" marR="0" algn="just">
              <a:lnSpc>
                <a:spcPct val="115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Communication: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inter-process communication and also deal with creating and deleting a 	communication connection.</a:t>
            </a:r>
          </a:p>
          <a:p>
            <a:pPr marL="0" marR="0" algn="just">
              <a:spcBef>
                <a:spcPts val="600"/>
              </a:spcBef>
              <a:spcAft>
                <a:spcPts val="840"/>
              </a:spcAft>
            </a:pPr>
            <a:endPar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600"/>
              </a:spcBef>
              <a:spcAft>
                <a:spcPts val="840"/>
              </a:spcAft>
            </a:pPr>
            <a:endPar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36753B44-0874-462C-92E5-37CDA368C696}"/>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0F92D00B-B6EB-41B6-81F7-116F3D06AE70}"/>
              </a:ext>
            </a:extLst>
          </p:cNvPr>
          <p:cNvSpPr>
            <a:spLocks noGrp="1"/>
          </p:cNvSpPr>
          <p:nvPr>
            <p:ph type="dt" sz="half" idx="10"/>
          </p:nvPr>
        </p:nvSpPr>
        <p:spPr/>
        <p:txBody>
          <a:bodyPr/>
          <a:lstStyle/>
          <a:p>
            <a:fld id="{897F7A81-15A8-4004-8F44-AD2E7067363D}" type="datetime1">
              <a:rPr lang="en-US" smtClean="0"/>
              <a:t>2/22/2026</a:t>
            </a:fld>
            <a:endParaRPr lang="en-US" dirty="0"/>
          </a:p>
        </p:txBody>
      </p:sp>
      <p:sp>
        <p:nvSpPr>
          <p:cNvPr id="6" name="Slide Number Placeholder 5">
            <a:extLst>
              <a:ext uri="{FF2B5EF4-FFF2-40B4-BE49-F238E27FC236}">
                <a16:creationId xmlns:a16="http://schemas.microsoft.com/office/drawing/2014/main" id="{8F88214E-5C0F-4195-9245-EF1E28A9ED42}"/>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2392329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34AD-CE24-4A40-B875-30F0028FBF1C}"/>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sz="3200" b="1" cap="none" dirty="0">
                <a:latin typeface="Times New Roman" pitchFamily="18" charset="0"/>
                <a:cs typeface="Times New Roman" pitchFamily="18" charset="0"/>
              </a:rPr>
              <a:t>Sample of system calls</a:t>
            </a:r>
          </a:p>
        </p:txBody>
      </p:sp>
      <p:pic>
        <p:nvPicPr>
          <p:cNvPr id="5" name="Content Placeholder 4" descr="Table&#10;&#10;Description automatically generated">
            <a:extLst>
              <a:ext uri="{FF2B5EF4-FFF2-40B4-BE49-F238E27FC236}">
                <a16:creationId xmlns:a16="http://schemas.microsoft.com/office/drawing/2014/main" id="{F1B127B2-6F14-46CE-813C-A701C6121E81}"/>
              </a:ext>
            </a:extLst>
          </p:cNvPr>
          <p:cNvPicPr>
            <a:picLocks noGrp="1" noChangeAspect="1"/>
          </p:cNvPicPr>
          <p:nvPr>
            <p:ph idx="1"/>
          </p:nvPr>
        </p:nvPicPr>
        <p:blipFill>
          <a:blip r:embed="rId2"/>
          <a:stretch>
            <a:fillRect/>
          </a:stretch>
        </p:blipFill>
        <p:spPr>
          <a:xfrm>
            <a:off x="1444752" y="2667224"/>
            <a:ext cx="9314170" cy="2561396"/>
          </a:xfrm>
          <a:prstGeom prst="rect">
            <a:avLst/>
          </a:prstGeom>
        </p:spPr>
      </p:pic>
      <p:pic>
        <p:nvPicPr>
          <p:cNvPr id="6" name="Picture 5" descr="A picture containing text, clipart&#10;&#10;Description automatically generated">
            <a:extLst>
              <a:ext uri="{FF2B5EF4-FFF2-40B4-BE49-F238E27FC236}">
                <a16:creationId xmlns:a16="http://schemas.microsoft.com/office/drawing/2014/main" id="{2E59D7D7-1975-4A8C-A225-F397A7E23188}"/>
              </a:ext>
            </a:extLst>
          </p:cNvPr>
          <p:cNvPicPr>
            <a:picLocks noChangeAspect="1"/>
          </p:cNvPicPr>
          <p:nvPr/>
        </p:nvPicPr>
        <p:blipFill>
          <a:blip r:embed="rId3"/>
          <a:stretch>
            <a:fillRect/>
          </a:stretch>
        </p:blipFill>
        <p:spPr>
          <a:xfrm>
            <a:off x="10918982" y="0"/>
            <a:ext cx="1273018" cy="1248669"/>
          </a:xfrm>
          <a:prstGeom prst="rect">
            <a:avLst/>
          </a:prstGeom>
        </p:spPr>
      </p:pic>
      <p:sp>
        <p:nvSpPr>
          <p:cNvPr id="3" name="Date Placeholder 2">
            <a:extLst>
              <a:ext uri="{FF2B5EF4-FFF2-40B4-BE49-F238E27FC236}">
                <a16:creationId xmlns:a16="http://schemas.microsoft.com/office/drawing/2014/main" id="{768ECD45-27BB-4CD3-970F-7D15B8EE37F1}"/>
              </a:ext>
            </a:extLst>
          </p:cNvPr>
          <p:cNvSpPr>
            <a:spLocks noGrp="1"/>
          </p:cNvSpPr>
          <p:nvPr>
            <p:ph type="dt" sz="half" idx="10"/>
          </p:nvPr>
        </p:nvSpPr>
        <p:spPr/>
        <p:txBody>
          <a:bodyPr/>
          <a:lstStyle/>
          <a:p>
            <a:fld id="{FFB15658-FBBB-4E13-B8F0-60618938B582}" type="datetime1">
              <a:rPr lang="en-US" smtClean="0"/>
              <a:t>2/22/2026</a:t>
            </a:fld>
            <a:endParaRPr lang="en-US" dirty="0"/>
          </a:p>
        </p:txBody>
      </p:sp>
      <p:sp>
        <p:nvSpPr>
          <p:cNvPr id="4" name="Slide Number Placeholder 3">
            <a:extLst>
              <a:ext uri="{FF2B5EF4-FFF2-40B4-BE49-F238E27FC236}">
                <a16:creationId xmlns:a16="http://schemas.microsoft.com/office/drawing/2014/main" id="{DC673E3E-CF03-4AFB-9F74-555C19DFEB0F}"/>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2213919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A434AD-CE24-4A40-B875-30F0028FBF1C}"/>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cap="none" dirty="0">
                <a:latin typeface="Times New Roman" pitchFamily="18" charset="0"/>
                <a:cs typeface="Times New Roman" pitchFamily="18" charset="0"/>
              </a:rPr>
              <a:t>Cont..</a:t>
            </a:r>
          </a:p>
        </p:txBody>
      </p:sp>
      <p:pic>
        <p:nvPicPr>
          <p:cNvPr id="10" name="Content Placeholder 9" descr="Table&#10;&#10;Description automatically generated">
            <a:extLst>
              <a:ext uri="{FF2B5EF4-FFF2-40B4-BE49-F238E27FC236}">
                <a16:creationId xmlns:a16="http://schemas.microsoft.com/office/drawing/2014/main" id="{CF72F88E-5BC6-4BD0-8C48-EC94A5267710}"/>
              </a:ext>
            </a:extLst>
          </p:cNvPr>
          <p:cNvPicPr>
            <a:picLocks noGrp="1" noChangeAspect="1"/>
          </p:cNvPicPr>
          <p:nvPr>
            <p:ph idx="1"/>
          </p:nvPr>
        </p:nvPicPr>
        <p:blipFill>
          <a:blip r:embed="rId2"/>
          <a:stretch>
            <a:fillRect/>
          </a:stretch>
        </p:blipFill>
        <p:spPr>
          <a:xfrm>
            <a:off x="1444752" y="2655580"/>
            <a:ext cx="9314170" cy="2584683"/>
          </a:xfrm>
          <a:prstGeom prst="rect">
            <a:avLst/>
          </a:prstGeom>
        </p:spPr>
      </p:pic>
      <p:pic>
        <p:nvPicPr>
          <p:cNvPr id="6" name="Picture 5" descr="A picture containing text, clipart&#10;&#10;Description automatically generated">
            <a:extLst>
              <a:ext uri="{FF2B5EF4-FFF2-40B4-BE49-F238E27FC236}">
                <a16:creationId xmlns:a16="http://schemas.microsoft.com/office/drawing/2014/main" id="{2E59D7D7-1975-4A8C-A225-F397A7E23188}"/>
              </a:ext>
            </a:extLst>
          </p:cNvPr>
          <p:cNvPicPr>
            <a:picLocks noChangeAspect="1"/>
          </p:cNvPicPr>
          <p:nvPr/>
        </p:nvPicPr>
        <p:blipFill>
          <a:blip r:embed="rId3"/>
          <a:stretch>
            <a:fillRect/>
          </a:stretch>
        </p:blipFill>
        <p:spPr>
          <a:xfrm>
            <a:off x="10918982" y="0"/>
            <a:ext cx="1273018" cy="1248669"/>
          </a:xfrm>
          <a:prstGeom prst="rect">
            <a:avLst/>
          </a:prstGeom>
        </p:spPr>
      </p:pic>
      <p:sp>
        <p:nvSpPr>
          <p:cNvPr id="12" name="Date Placeholder 11">
            <a:extLst>
              <a:ext uri="{FF2B5EF4-FFF2-40B4-BE49-F238E27FC236}">
                <a16:creationId xmlns:a16="http://schemas.microsoft.com/office/drawing/2014/main" id="{10E7F981-0D0D-4A16-B319-3529351A23FA}"/>
              </a:ext>
            </a:extLst>
          </p:cNvPr>
          <p:cNvSpPr>
            <a:spLocks noGrp="1"/>
          </p:cNvSpPr>
          <p:nvPr>
            <p:ph type="dt" sz="half" idx="10"/>
          </p:nvPr>
        </p:nvSpPr>
        <p:spPr/>
        <p:txBody>
          <a:bodyPr/>
          <a:lstStyle/>
          <a:p>
            <a:fld id="{1FFAB0E1-6EB2-46CA-AE86-A32B110EBD33}" type="datetime1">
              <a:rPr lang="en-US" smtClean="0"/>
              <a:t>2/22/2026</a:t>
            </a:fld>
            <a:endParaRPr lang="en-US" dirty="0"/>
          </a:p>
        </p:txBody>
      </p:sp>
      <p:sp>
        <p:nvSpPr>
          <p:cNvPr id="13" name="Slide Number Placeholder 12">
            <a:extLst>
              <a:ext uri="{FF2B5EF4-FFF2-40B4-BE49-F238E27FC236}">
                <a16:creationId xmlns:a16="http://schemas.microsoft.com/office/drawing/2014/main" id="{F1C55CA3-A8F6-42B5-905C-A7D70834C820}"/>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3245128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FA5B1-C3DB-44F9-8825-3694116B77C0}"/>
              </a:ext>
            </a:extLst>
          </p:cNvPr>
          <p:cNvSpPr>
            <a:spLocks noGrp="1"/>
          </p:cNvSpPr>
          <p:nvPr>
            <p:ph type="title"/>
          </p:nvPr>
        </p:nvSpPr>
        <p:spPr>
          <a:xfrm>
            <a:off x="829781" y="2708804"/>
            <a:ext cx="3698803" cy="1440394"/>
          </a:xfrm>
          <a:noFill/>
          <a:ln>
            <a:solidFill>
              <a:schemeClr val="tx1"/>
            </a:solidFill>
          </a:ln>
        </p:spPr>
        <p:txBody>
          <a:bodyPr>
            <a:normAutofit/>
          </a:bodyPr>
          <a:lstStyle/>
          <a:p>
            <a:r>
              <a:rPr lang="en-US" sz="3200" b="1" i="0" cap="none" dirty="0">
                <a:solidFill>
                  <a:schemeClr val="bg1"/>
                </a:solidFill>
                <a:effectLst/>
                <a:latin typeface="Times New Roman" panose="02020603050405020304" pitchFamily="18" charset="0"/>
                <a:cs typeface="Times New Roman" panose="02020603050405020304" pitchFamily="18" charset="0"/>
              </a:rPr>
              <a:t>Methods </a:t>
            </a:r>
            <a:endParaRPr lang="en-US" sz="3200" b="1" cap="none"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B403EBD-907E-4D59-98D4-A72CD1063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9500DA2-3A33-4CA7-8513-629888F91144}"/>
              </a:ext>
            </a:extLst>
          </p:cNvPr>
          <p:cNvSpPr>
            <a:spLocks noGrp="1"/>
          </p:cNvSpPr>
          <p:nvPr>
            <p:ph idx="1"/>
          </p:nvPr>
        </p:nvSpPr>
        <p:spPr>
          <a:xfrm>
            <a:off x="6049182" y="802638"/>
            <a:ext cx="5824766" cy="5252722"/>
          </a:xfrm>
        </p:spPr>
        <p:txBody>
          <a:bodyPr anchor="ctr">
            <a:normAutofit/>
          </a:bodyPr>
          <a:lstStyle/>
          <a:p>
            <a:pPr marL="0" marR="0" indent="0" algn="just">
              <a:spcBef>
                <a:spcPts val="1000"/>
              </a:spcBef>
              <a:spcAft>
                <a:spcPts val="0"/>
              </a:spcAft>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open()</a:t>
            </a:r>
          </a:p>
          <a:p>
            <a:pPr marL="0" marR="0" indent="0" algn="just">
              <a:buNone/>
            </a:pP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The </a:t>
            </a:r>
            <a:r>
              <a:rPr lang="en-US" sz="24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open()</a:t>
            </a:r>
            <a:r>
              <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system call allows you to access a file on a file system. It allocates resources to the file and provides a handle that the process may refer to. Many processes can open a file at once or by a single process only. It's all based on the file system and structure.</a:t>
            </a:r>
          </a:p>
          <a:p>
            <a:pPr algn="just"/>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6A6AC6B8-6ACF-47E3-94BD-32725D3F22C5}"/>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50080DB1-3B32-4959-A0A9-EB4A6F1B64B1}"/>
              </a:ext>
            </a:extLst>
          </p:cNvPr>
          <p:cNvSpPr>
            <a:spLocks noGrp="1"/>
          </p:cNvSpPr>
          <p:nvPr>
            <p:ph type="dt" sz="half" idx="10"/>
          </p:nvPr>
        </p:nvSpPr>
        <p:spPr/>
        <p:txBody>
          <a:bodyPr/>
          <a:lstStyle/>
          <a:p>
            <a:fld id="{DEB59863-30F6-403F-ABFE-DED0E2CCFE64}" type="datetime1">
              <a:rPr lang="en-US" smtClean="0"/>
              <a:t>2/22/2026</a:t>
            </a:fld>
            <a:endParaRPr lang="en-US" dirty="0"/>
          </a:p>
        </p:txBody>
      </p:sp>
      <p:sp>
        <p:nvSpPr>
          <p:cNvPr id="6" name="Slide Number Placeholder 5">
            <a:extLst>
              <a:ext uri="{FF2B5EF4-FFF2-40B4-BE49-F238E27FC236}">
                <a16:creationId xmlns:a16="http://schemas.microsoft.com/office/drawing/2014/main" id="{7DFF6B8A-B013-45C7-BE2B-631F634991FF}"/>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3390782792"/>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73B7-EE3F-42F5-BD08-0E8D2AC3FE8C}"/>
              </a:ext>
            </a:extLst>
          </p:cNvPr>
          <p:cNvSpPr>
            <a:spLocks noGrp="1"/>
          </p:cNvSpPr>
          <p:nvPr>
            <p:ph type="title"/>
          </p:nvPr>
        </p:nvSpPr>
        <p:spPr/>
        <p:txBody>
          <a:bodyPr/>
          <a:lstStyle/>
          <a:p>
            <a:r>
              <a:rPr lang="en-US" b="1" cap="none">
                <a:latin typeface="Times New Roman" panose="02020603050405020304" pitchFamily="18" charset="0"/>
                <a:cs typeface="Times New Roman" panose="02020603050405020304" pitchFamily="18" charset="0"/>
              </a:rPr>
              <a:t>Cont..</a:t>
            </a:r>
            <a:endParaRPr lang="en-US" b="1"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C80888-8E81-4474-BD97-69E56C13E710}"/>
              </a:ext>
            </a:extLst>
          </p:cNvPr>
          <p:cNvSpPr>
            <a:spLocks noGrp="1"/>
          </p:cNvSpPr>
          <p:nvPr>
            <p:ph idx="1"/>
          </p:nvPr>
        </p:nvSpPr>
        <p:spPr>
          <a:xfrm>
            <a:off x="980661" y="2638044"/>
            <a:ext cx="9938321" cy="3101983"/>
          </a:xfrm>
        </p:spPr>
        <p:txBody>
          <a:bodyPr>
            <a:noAutofit/>
          </a:bodyPr>
          <a:lstStyle/>
          <a:p>
            <a:pPr marL="0" marR="0" indent="0" algn="just">
              <a:lnSpc>
                <a:spcPts val="1560"/>
              </a:lnSpc>
              <a:spcBef>
                <a:spcPts val="1000"/>
              </a:spcBef>
              <a:spcAft>
                <a:spcPts val="0"/>
              </a:spcAft>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read()</a:t>
            </a: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It is used to obtain data from a file on the file system. It accepts three arguments in general: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571500" lvl="1"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file descriptor.</a:t>
            </a:r>
          </a:p>
          <a:p>
            <a:pPr marL="571500" lvl="1"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buffer to store read data.</a:t>
            </a:r>
          </a:p>
          <a:p>
            <a:pPr marL="571500" lvl="1"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number of bytes to read from the file.</a:t>
            </a:r>
          </a:p>
          <a:p>
            <a:pPr marL="0" marR="0" algn="just"/>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file descriptor of the file to be read could be used to identify it and open it using </a:t>
            </a: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open()</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before reading.</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185D8B8A-E164-49DF-B68B-73706215010F}"/>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Date Placeholder 4">
            <a:extLst>
              <a:ext uri="{FF2B5EF4-FFF2-40B4-BE49-F238E27FC236}">
                <a16:creationId xmlns:a16="http://schemas.microsoft.com/office/drawing/2014/main" id="{69A62109-75D8-42D5-9223-8EE7F78AECFF}"/>
              </a:ext>
            </a:extLst>
          </p:cNvPr>
          <p:cNvSpPr>
            <a:spLocks noGrp="1"/>
          </p:cNvSpPr>
          <p:nvPr>
            <p:ph type="dt" sz="half" idx="10"/>
          </p:nvPr>
        </p:nvSpPr>
        <p:spPr/>
        <p:txBody>
          <a:bodyPr/>
          <a:lstStyle/>
          <a:p>
            <a:fld id="{DCAF88B4-EE79-4B8F-B377-8F0D853DA15C}" type="datetime1">
              <a:rPr lang="en-US" smtClean="0"/>
              <a:t>2/22/2026</a:t>
            </a:fld>
            <a:endParaRPr lang="en-US" dirty="0"/>
          </a:p>
        </p:txBody>
      </p:sp>
      <p:sp>
        <p:nvSpPr>
          <p:cNvPr id="6" name="Slide Number Placeholder 5">
            <a:extLst>
              <a:ext uri="{FF2B5EF4-FFF2-40B4-BE49-F238E27FC236}">
                <a16:creationId xmlns:a16="http://schemas.microsoft.com/office/drawing/2014/main" id="{08EE60E0-92FB-46E4-BA47-6055A5370E85}"/>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1217029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58FB44-1D45-4763-861D-5BC931B342B3}"/>
              </a:ext>
            </a:extLst>
          </p:cNvPr>
          <p:cNvSpPr>
            <a:spLocks noGrp="1"/>
          </p:cNvSpPr>
          <p:nvPr>
            <p:ph idx="1"/>
          </p:nvPr>
        </p:nvSpPr>
        <p:spPr>
          <a:xfrm>
            <a:off x="795131" y="2638044"/>
            <a:ext cx="10681252" cy="3101983"/>
          </a:xfrm>
        </p:spPr>
        <p:txBody>
          <a:bodyPr>
            <a:normAutofit/>
          </a:bodyPr>
          <a:lstStyle/>
          <a:p>
            <a:pPr marL="0" marR="0" indent="0" algn="just">
              <a:lnSpc>
                <a:spcPts val="1560"/>
              </a:lnSpc>
              <a:spcBef>
                <a:spcPts val="1000"/>
              </a:spcBef>
              <a:spcAft>
                <a:spcPts val="0"/>
              </a:spcAft>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wait()</a:t>
            </a: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In some systems, a process may have to wait for another process to complete its execution before proceeding. When a parent process makes a child process, the parent process execution is suspended until the child process is finished. The </a:t>
            </a: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wait()</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system call is used to suspend the parent process. Once the child process has completed its execution, control is returned to the parent process.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3078B915-6E0F-4E3F-9435-7CE819AC1016}"/>
              </a:ext>
            </a:extLst>
          </p:cNvPr>
          <p:cNvPicPr>
            <a:picLocks noChangeAspect="1"/>
          </p:cNvPicPr>
          <p:nvPr/>
        </p:nvPicPr>
        <p:blipFill>
          <a:blip r:embed="rId2"/>
          <a:stretch>
            <a:fillRect/>
          </a:stretch>
        </p:blipFill>
        <p:spPr>
          <a:xfrm>
            <a:off x="10918982" y="0"/>
            <a:ext cx="1273018" cy="1248669"/>
          </a:xfrm>
          <a:prstGeom prst="rect">
            <a:avLst/>
          </a:prstGeom>
        </p:spPr>
      </p:pic>
      <p:sp>
        <p:nvSpPr>
          <p:cNvPr id="6" name="Title 1">
            <a:extLst>
              <a:ext uri="{FF2B5EF4-FFF2-40B4-BE49-F238E27FC236}">
                <a16:creationId xmlns:a16="http://schemas.microsoft.com/office/drawing/2014/main" id="{139DAB67-2040-488B-B47F-899EEAB42828}"/>
              </a:ext>
            </a:extLst>
          </p:cNvPr>
          <p:cNvSpPr>
            <a:spLocks noGrp="1"/>
          </p:cNvSpPr>
          <p:nvPr>
            <p:ph type="title"/>
          </p:nvPr>
        </p:nvSpPr>
        <p:spPr>
          <a:xfrm>
            <a:off x="2230438" y="965200"/>
            <a:ext cx="7731125" cy="1187450"/>
          </a:xfrm>
        </p:spPr>
        <p:txBody>
          <a:bodyPr/>
          <a:lstStyle/>
          <a:p>
            <a:r>
              <a:rPr lang="en-US" b="1" cap="none">
                <a:latin typeface="Times New Roman" panose="02020603050405020304" pitchFamily="18" charset="0"/>
                <a:cs typeface="Times New Roman" panose="02020603050405020304" pitchFamily="18" charset="0"/>
              </a:rPr>
              <a:t>Cont..</a:t>
            </a:r>
            <a:endParaRPr lang="en-US" b="1" cap="none"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68B21359-0BAA-4BDC-A569-00BAA028CEA4}"/>
              </a:ext>
            </a:extLst>
          </p:cNvPr>
          <p:cNvSpPr>
            <a:spLocks noGrp="1"/>
          </p:cNvSpPr>
          <p:nvPr>
            <p:ph type="dt" sz="half" idx="10"/>
          </p:nvPr>
        </p:nvSpPr>
        <p:spPr/>
        <p:txBody>
          <a:bodyPr/>
          <a:lstStyle/>
          <a:p>
            <a:fld id="{CA66C9D1-E427-4443-B943-4315DB5685B3}" type="datetime1">
              <a:rPr lang="en-US" smtClean="0"/>
              <a:t>2/22/2026</a:t>
            </a:fld>
            <a:endParaRPr lang="en-US" dirty="0"/>
          </a:p>
        </p:txBody>
      </p:sp>
      <p:sp>
        <p:nvSpPr>
          <p:cNvPr id="8" name="Slide Number Placeholder 7">
            <a:extLst>
              <a:ext uri="{FF2B5EF4-FFF2-40B4-BE49-F238E27FC236}">
                <a16:creationId xmlns:a16="http://schemas.microsoft.com/office/drawing/2014/main" id="{88691D59-29A4-47C9-AF7C-459C4F064333}"/>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3950794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FC5B2-D00F-4AF8-8943-5095017661F9}"/>
              </a:ext>
            </a:extLst>
          </p:cNvPr>
          <p:cNvSpPr>
            <a:spLocks noGrp="1"/>
          </p:cNvSpPr>
          <p:nvPr>
            <p:ph idx="1"/>
          </p:nvPr>
        </p:nvSpPr>
        <p:spPr>
          <a:xfrm>
            <a:off x="728869" y="2638044"/>
            <a:ext cx="10349947" cy="3101983"/>
          </a:xfrm>
        </p:spPr>
        <p:txBody>
          <a:bodyPr>
            <a:normAutofit/>
          </a:bodyPr>
          <a:lstStyle/>
          <a:p>
            <a:pPr marL="0" marR="0" indent="0" algn="just">
              <a:lnSpc>
                <a:spcPts val="1560"/>
              </a:lnSpc>
              <a:spcBef>
                <a:spcPts val="1000"/>
              </a:spcBef>
              <a:spcAft>
                <a:spcPts val="0"/>
              </a:spcAft>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write()</a:t>
            </a: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It is used to write data from a user buffer to a device like a file. This system call is one way for a program to generate data. It takes three arguments in general: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571500" lvl="1" indent="-342900" algn="just">
              <a:lnSpc>
                <a:spcPct val="150000"/>
              </a:lnSpc>
              <a:spcBef>
                <a:spcPts val="300"/>
              </a:spcBef>
              <a:spcAft>
                <a:spcPts val="1000"/>
              </a:spcAft>
              <a:buSzPts val="1000"/>
              <a:buFont typeface="Courier New" panose="02070309020205020404" pitchFamily="49" charset="0"/>
              <a:buChar char="o"/>
              <a:tabLst>
                <a:tab pos="457200" algn="l"/>
              </a:tabLst>
            </a:pPr>
            <a:r>
              <a:rPr lang="en-US"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file descriptor.</a:t>
            </a:r>
          </a:p>
          <a:p>
            <a:pPr marL="571500" lvl="1"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pointer to the buffer in which data is saved.</a:t>
            </a:r>
          </a:p>
          <a:p>
            <a:pPr marL="571500" lvl="1" indent="-342900" algn="just">
              <a:lnSpc>
                <a:spcPts val="1875"/>
              </a:lnSpc>
              <a:spcBef>
                <a:spcPts val="300"/>
              </a:spcBef>
              <a:spcAft>
                <a:spcPts val="1000"/>
              </a:spcAft>
              <a:buSzPts val="1000"/>
              <a:buFont typeface="Courier New" panose="02070309020205020404" pitchFamily="49" charset="0"/>
              <a:buChar char="o"/>
              <a:tabLst>
                <a:tab pos="457200" algn="l"/>
              </a:tabLst>
            </a:pPr>
            <a:r>
              <a:rPr lang="en-US"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number of bytes to be written from the buffer.</a:t>
            </a:r>
          </a:p>
          <a:p>
            <a:endParaRPr lang="en-US" sz="24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61BEFBC4-221C-4AC7-8C4F-4B9DDF5E7C7F}"/>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Title 1">
            <a:extLst>
              <a:ext uri="{FF2B5EF4-FFF2-40B4-BE49-F238E27FC236}">
                <a16:creationId xmlns:a16="http://schemas.microsoft.com/office/drawing/2014/main" id="{E0A39904-629F-4DCC-BCD0-903FDC629C57}"/>
              </a:ext>
            </a:extLst>
          </p:cNvPr>
          <p:cNvSpPr>
            <a:spLocks noGrp="1"/>
          </p:cNvSpPr>
          <p:nvPr>
            <p:ph type="title"/>
          </p:nvPr>
        </p:nvSpPr>
        <p:spPr>
          <a:xfrm>
            <a:off x="2230438" y="965200"/>
            <a:ext cx="7731125" cy="1187450"/>
          </a:xfrm>
        </p:spPr>
        <p:txBody>
          <a:bodyPr/>
          <a:lstStyle/>
          <a:p>
            <a:r>
              <a:rPr lang="en-US" b="1" cap="none">
                <a:latin typeface="Times New Roman" panose="02020603050405020304" pitchFamily="18" charset="0"/>
                <a:cs typeface="Times New Roman" panose="02020603050405020304" pitchFamily="18" charset="0"/>
              </a:rPr>
              <a:t>Cont..</a:t>
            </a:r>
            <a:endParaRPr lang="en-US" b="1" cap="none"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3BDF1030-CA31-4413-9803-58011B35B49F}"/>
              </a:ext>
            </a:extLst>
          </p:cNvPr>
          <p:cNvSpPr>
            <a:spLocks noGrp="1"/>
          </p:cNvSpPr>
          <p:nvPr>
            <p:ph type="dt" sz="half" idx="10"/>
          </p:nvPr>
        </p:nvSpPr>
        <p:spPr/>
        <p:txBody>
          <a:bodyPr/>
          <a:lstStyle/>
          <a:p>
            <a:fld id="{C1FE861E-379A-4A96-899F-AF3B417103C0}" type="datetime1">
              <a:rPr lang="en-US" smtClean="0"/>
              <a:t>2/22/2026</a:t>
            </a:fld>
            <a:endParaRPr lang="en-US" dirty="0"/>
          </a:p>
        </p:txBody>
      </p:sp>
      <p:sp>
        <p:nvSpPr>
          <p:cNvPr id="7" name="Slide Number Placeholder 6">
            <a:extLst>
              <a:ext uri="{FF2B5EF4-FFF2-40B4-BE49-F238E27FC236}">
                <a16:creationId xmlns:a16="http://schemas.microsoft.com/office/drawing/2014/main" id="{D6FF32EB-5BC6-413F-AB51-2D78BC678E0D}"/>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3255968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3DB3C2-DFA4-495E-BE03-7C8C6056E466}"/>
              </a:ext>
            </a:extLst>
          </p:cNvPr>
          <p:cNvSpPr>
            <a:spLocks noGrp="1"/>
          </p:cNvSpPr>
          <p:nvPr>
            <p:ph idx="1"/>
          </p:nvPr>
        </p:nvSpPr>
        <p:spPr>
          <a:xfrm>
            <a:off x="636104" y="2638044"/>
            <a:ext cx="10522226" cy="3101983"/>
          </a:xfrm>
        </p:spPr>
        <p:txBody>
          <a:bodyPr>
            <a:normAutofit/>
          </a:bodyPr>
          <a:lstStyle/>
          <a:p>
            <a:pPr marL="0" indent="0" algn="just">
              <a:buNone/>
            </a:pPr>
            <a:r>
              <a:rPr lang="en-US" sz="2400" b="1" dirty="0">
                <a:solidFill>
                  <a:srgbClr val="FF0000"/>
                </a:solidFill>
                <a:latin typeface="Times New Roman" panose="02020603050405020304" pitchFamily="18" charset="0"/>
                <a:cs typeface="Times New Roman" panose="02020603050405020304" pitchFamily="18" charset="0"/>
              </a:rPr>
              <a:t>fork()</a:t>
            </a:r>
          </a:p>
          <a:p>
            <a:pPr marL="228600" lvl="1" indent="0" algn="just">
              <a:buNone/>
            </a:pPr>
            <a:r>
              <a:rPr lang="en-US" sz="2200" dirty="0">
                <a:latin typeface="Times New Roman" panose="02020603050405020304" pitchFamily="18" charset="0"/>
                <a:cs typeface="Times New Roman" panose="02020603050405020304" pitchFamily="18" charset="0"/>
              </a:rPr>
              <a:t>	Processes generate clones of themselves using the fork() system call. It is one of the most common ways to create processes in operating systems. When a parent process spawns a child process, execution of the parent process is interrupted until the child process completes. Once the child process has completed its execution, control is returned to the parent process.</a:t>
            </a:r>
          </a:p>
          <a:p>
            <a:pPr algn="just"/>
            <a:endParaRPr lang="en-US" sz="24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1E493979-6939-4315-B271-948A99D262E3}"/>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Title 1">
            <a:extLst>
              <a:ext uri="{FF2B5EF4-FFF2-40B4-BE49-F238E27FC236}">
                <a16:creationId xmlns:a16="http://schemas.microsoft.com/office/drawing/2014/main" id="{ADC598B1-E83B-475C-8115-B57B0CD23ED1}"/>
              </a:ext>
            </a:extLst>
          </p:cNvPr>
          <p:cNvSpPr>
            <a:spLocks noGrp="1"/>
          </p:cNvSpPr>
          <p:nvPr>
            <p:ph type="title"/>
          </p:nvPr>
        </p:nvSpPr>
        <p:spPr>
          <a:xfrm>
            <a:off x="2230438" y="965200"/>
            <a:ext cx="7731125" cy="1187450"/>
          </a:xfrm>
        </p:spPr>
        <p:txBody>
          <a:bodyPr/>
          <a:lstStyle/>
          <a:p>
            <a:r>
              <a:rPr lang="en-US" b="1" cap="none">
                <a:latin typeface="Times New Roman" panose="02020603050405020304" pitchFamily="18" charset="0"/>
                <a:cs typeface="Times New Roman" panose="02020603050405020304" pitchFamily="18" charset="0"/>
              </a:rPr>
              <a:t>Cont..</a:t>
            </a:r>
            <a:endParaRPr lang="en-US" b="1" cap="none"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EC407120-0175-4DCF-8A75-26BA35170AD3}"/>
              </a:ext>
            </a:extLst>
          </p:cNvPr>
          <p:cNvSpPr>
            <a:spLocks noGrp="1"/>
          </p:cNvSpPr>
          <p:nvPr>
            <p:ph type="dt" sz="half" idx="10"/>
          </p:nvPr>
        </p:nvSpPr>
        <p:spPr/>
        <p:txBody>
          <a:bodyPr/>
          <a:lstStyle/>
          <a:p>
            <a:fld id="{7CEF3087-F459-40F7-ABEA-C549E85D9604}" type="datetime1">
              <a:rPr lang="en-US" smtClean="0"/>
              <a:t>2/22/2026</a:t>
            </a:fld>
            <a:endParaRPr lang="en-US" dirty="0"/>
          </a:p>
        </p:txBody>
      </p:sp>
      <p:sp>
        <p:nvSpPr>
          <p:cNvPr id="7" name="Slide Number Placeholder 6">
            <a:extLst>
              <a:ext uri="{FF2B5EF4-FFF2-40B4-BE49-F238E27FC236}">
                <a16:creationId xmlns:a16="http://schemas.microsoft.com/office/drawing/2014/main" id="{ACA317D9-377D-4731-BE8E-7EBBABB8A8E7}"/>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399596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C488D4-4E1D-469E-AB02-966506925046}"/>
              </a:ext>
            </a:extLst>
          </p:cNvPr>
          <p:cNvSpPr>
            <a:spLocks noGrp="1"/>
          </p:cNvSpPr>
          <p:nvPr>
            <p:ph idx="1"/>
          </p:nvPr>
        </p:nvSpPr>
        <p:spPr>
          <a:xfrm>
            <a:off x="702365" y="2638044"/>
            <a:ext cx="10933044" cy="3101983"/>
          </a:xfrm>
        </p:spPr>
        <p:txBody>
          <a:bodyPr>
            <a:normAutofit/>
          </a:bodyPr>
          <a:lstStyle/>
          <a:p>
            <a:pPr marL="0" marR="0" indent="0" algn="just">
              <a:lnSpc>
                <a:spcPts val="1560"/>
              </a:lnSpc>
              <a:spcBef>
                <a:spcPts val="1000"/>
              </a:spcBef>
              <a:spcAft>
                <a:spcPts val="0"/>
              </a:spcAft>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exec()</a:t>
            </a: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When an executable file replaces an earlier executable file in an already executing process, this system function is invoked. As a new process is not built, the old process identification stays, but the new process replaces data, stack, data, head, etc.</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76FB8BD0-56EC-4EE0-878B-18F9B5251805}"/>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Title 1">
            <a:extLst>
              <a:ext uri="{FF2B5EF4-FFF2-40B4-BE49-F238E27FC236}">
                <a16:creationId xmlns:a16="http://schemas.microsoft.com/office/drawing/2014/main" id="{7F5458F4-F15A-40C3-BECE-1997F551C61E}"/>
              </a:ext>
            </a:extLst>
          </p:cNvPr>
          <p:cNvSpPr>
            <a:spLocks noGrp="1"/>
          </p:cNvSpPr>
          <p:nvPr>
            <p:ph type="title"/>
          </p:nvPr>
        </p:nvSpPr>
        <p:spPr>
          <a:xfrm>
            <a:off x="2230438" y="965200"/>
            <a:ext cx="7731125" cy="1187450"/>
          </a:xfrm>
        </p:spPr>
        <p:txBody>
          <a:bodyPr/>
          <a:lstStyle/>
          <a:p>
            <a:r>
              <a:rPr lang="en-US" b="1" cap="none">
                <a:latin typeface="Times New Roman" panose="02020603050405020304" pitchFamily="18" charset="0"/>
                <a:cs typeface="Times New Roman" panose="02020603050405020304" pitchFamily="18" charset="0"/>
              </a:rPr>
              <a:t>Cont..</a:t>
            </a:r>
            <a:endParaRPr lang="en-US" b="1" cap="none"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D0F9279B-8777-4AF6-ADC2-DE6F85408B84}"/>
              </a:ext>
            </a:extLst>
          </p:cNvPr>
          <p:cNvSpPr>
            <a:spLocks noGrp="1"/>
          </p:cNvSpPr>
          <p:nvPr>
            <p:ph type="dt" sz="half" idx="10"/>
          </p:nvPr>
        </p:nvSpPr>
        <p:spPr/>
        <p:txBody>
          <a:bodyPr/>
          <a:lstStyle/>
          <a:p>
            <a:fld id="{C0893053-5D84-4304-8DEF-DD6D914B0ED4}" type="datetime1">
              <a:rPr lang="en-US" smtClean="0"/>
              <a:t>2/22/2026</a:t>
            </a:fld>
            <a:endParaRPr lang="en-US" dirty="0"/>
          </a:p>
        </p:txBody>
      </p:sp>
      <p:sp>
        <p:nvSpPr>
          <p:cNvPr id="7" name="Slide Number Placeholder 6">
            <a:extLst>
              <a:ext uri="{FF2B5EF4-FFF2-40B4-BE49-F238E27FC236}">
                <a16:creationId xmlns:a16="http://schemas.microsoft.com/office/drawing/2014/main" id="{DBF75B14-349D-48FA-8810-A49A8E2074D5}"/>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1410148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AE529F-C8C4-41C2-B0C3-4164B96573D6}"/>
              </a:ext>
            </a:extLst>
          </p:cNvPr>
          <p:cNvSpPr>
            <a:spLocks noGrp="1"/>
          </p:cNvSpPr>
          <p:nvPr>
            <p:ph idx="1"/>
          </p:nvPr>
        </p:nvSpPr>
        <p:spPr>
          <a:xfrm>
            <a:off x="675861" y="2638044"/>
            <a:ext cx="10376451" cy="3101983"/>
          </a:xfrm>
        </p:spPr>
        <p:txBody>
          <a:bodyPr>
            <a:normAutofit/>
          </a:bodyPr>
          <a:lstStyle/>
          <a:p>
            <a:pPr marL="0" marR="0" indent="0" algn="just">
              <a:lnSpc>
                <a:spcPts val="1560"/>
              </a:lnSpc>
              <a:spcBef>
                <a:spcPts val="1000"/>
              </a:spcBef>
              <a:spcAft>
                <a:spcPts val="0"/>
              </a:spcAft>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exit()</a:t>
            </a: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The </a:t>
            </a: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exit()</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is a system call that is used to end program execution. This call indicates that the thread execution is complete, which is especially useful in multi-threaded environments. The operating system reclaims resources spent by the process following the use of the </a:t>
            </a: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exit()</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system function.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descr="A picture containing text, clipart&#10;&#10;Description automatically generated">
            <a:extLst>
              <a:ext uri="{FF2B5EF4-FFF2-40B4-BE49-F238E27FC236}">
                <a16:creationId xmlns:a16="http://schemas.microsoft.com/office/drawing/2014/main" id="{93F0D7BF-7CA5-4B9E-99C4-344261707ECB}"/>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Title 1">
            <a:extLst>
              <a:ext uri="{FF2B5EF4-FFF2-40B4-BE49-F238E27FC236}">
                <a16:creationId xmlns:a16="http://schemas.microsoft.com/office/drawing/2014/main" id="{A6D13749-9842-4C70-93C5-55B0AC3EA6F7}"/>
              </a:ext>
            </a:extLst>
          </p:cNvPr>
          <p:cNvSpPr>
            <a:spLocks noGrp="1"/>
          </p:cNvSpPr>
          <p:nvPr>
            <p:ph type="title"/>
          </p:nvPr>
        </p:nvSpPr>
        <p:spPr>
          <a:xfrm>
            <a:off x="2230438" y="965200"/>
            <a:ext cx="7731125" cy="1187450"/>
          </a:xfrm>
        </p:spPr>
        <p:txBody>
          <a:bodyPr/>
          <a:lstStyle/>
          <a:p>
            <a:r>
              <a:rPr lang="en-US" b="1" cap="none" dirty="0">
                <a:latin typeface="Times New Roman" panose="02020603050405020304" pitchFamily="18" charset="0"/>
                <a:cs typeface="Times New Roman" panose="02020603050405020304" pitchFamily="18" charset="0"/>
              </a:rPr>
              <a:t>Cont..</a:t>
            </a:r>
          </a:p>
        </p:txBody>
      </p:sp>
      <p:sp>
        <p:nvSpPr>
          <p:cNvPr id="6" name="Date Placeholder 5">
            <a:extLst>
              <a:ext uri="{FF2B5EF4-FFF2-40B4-BE49-F238E27FC236}">
                <a16:creationId xmlns:a16="http://schemas.microsoft.com/office/drawing/2014/main" id="{424339CE-03F7-4015-927E-2D172E34DDF8}"/>
              </a:ext>
            </a:extLst>
          </p:cNvPr>
          <p:cNvSpPr>
            <a:spLocks noGrp="1"/>
          </p:cNvSpPr>
          <p:nvPr>
            <p:ph type="dt" sz="half" idx="10"/>
          </p:nvPr>
        </p:nvSpPr>
        <p:spPr/>
        <p:txBody>
          <a:bodyPr/>
          <a:lstStyle/>
          <a:p>
            <a:fld id="{EF8A6439-B641-45F0-931C-6B62B2EEB6F1}" type="datetime1">
              <a:rPr lang="en-US" smtClean="0"/>
              <a:t>2/22/2026</a:t>
            </a:fld>
            <a:endParaRPr lang="en-US" dirty="0"/>
          </a:p>
        </p:txBody>
      </p:sp>
      <p:sp>
        <p:nvSpPr>
          <p:cNvPr id="7" name="Slide Number Placeholder 6">
            <a:extLst>
              <a:ext uri="{FF2B5EF4-FFF2-40B4-BE49-F238E27FC236}">
                <a16:creationId xmlns:a16="http://schemas.microsoft.com/office/drawing/2014/main" id="{2E8E543C-7D07-48E3-91AB-2F4CF641B945}"/>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14077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1C7FE-81DA-4F11-BD6F-BD35BF8523E7}"/>
              </a:ext>
            </a:extLst>
          </p:cNvPr>
          <p:cNvSpPr>
            <a:spLocks noGrp="1"/>
          </p:cNvSpPr>
          <p:nvPr>
            <p:ph idx="1"/>
          </p:nvPr>
        </p:nvSpPr>
        <p:spPr>
          <a:xfrm>
            <a:off x="993913" y="2638044"/>
            <a:ext cx="10376452" cy="3101983"/>
          </a:xfrm>
        </p:spPr>
        <p:txBody>
          <a:bodyPr>
            <a:normAutofit/>
          </a:bodyPr>
          <a:lstStyle/>
          <a:p>
            <a:pPr marL="0" marR="0" indent="0" algn="just">
              <a:lnSpc>
                <a:spcPts val="1560"/>
              </a:lnSpc>
              <a:spcBef>
                <a:spcPts val="1000"/>
              </a:spcBef>
              <a:spcAft>
                <a:spcPts val="0"/>
              </a:spcAft>
              <a:buNone/>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close()</a:t>
            </a:r>
            <a:endParaRPr lang="en-US" sz="2400" b="1"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indent="0" algn="just">
              <a:buNone/>
            </a:pPr>
            <a:r>
              <a:rPr lang="en-US" sz="2400" dirty="0">
                <a:solidFill>
                  <a:srgbClr val="333333"/>
                </a:solidFill>
                <a:effectLst/>
                <a:latin typeface="Times New Roman" panose="02020603050405020304" pitchFamily="18" charset="0"/>
                <a:ea typeface="Times New Roman" panose="02020603050405020304" pitchFamily="18" charset="0"/>
              </a:rPr>
              <a:t>	It is used to end file system access. When this system call is invoked, it signifies that the program no longer requires the file, and the buffers are flushed, the file information is altered, and the file resources are de-allocated as a result.</a:t>
            </a:r>
            <a:endParaRPr lang="en-US" sz="2400" dirty="0">
              <a:effectLst/>
              <a:latin typeface="Times New Roman" panose="02020603050405020304" pitchFamily="18" charset="0"/>
              <a:ea typeface="Times New Roman" panose="02020603050405020304" pitchFamily="18" charset="0"/>
            </a:endParaRPr>
          </a:p>
          <a:p>
            <a:endParaRPr lang="en-US" sz="2400" dirty="0"/>
          </a:p>
        </p:txBody>
      </p:sp>
      <p:pic>
        <p:nvPicPr>
          <p:cNvPr id="4" name="Picture 3" descr="A picture containing text, clipart&#10;&#10;Description automatically generated">
            <a:extLst>
              <a:ext uri="{FF2B5EF4-FFF2-40B4-BE49-F238E27FC236}">
                <a16:creationId xmlns:a16="http://schemas.microsoft.com/office/drawing/2014/main" id="{F632789A-6ACD-4F1D-81CD-7229B28CFD1F}"/>
              </a:ext>
            </a:extLst>
          </p:cNvPr>
          <p:cNvPicPr>
            <a:picLocks noChangeAspect="1"/>
          </p:cNvPicPr>
          <p:nvPr/>
        </p:nvPicPr>
        <p:blipFill>
          <a:blip r:embed="rId2"/>
          <a:stretch>
            <a:fillRect/>
          </a:stretch>
        </p:blipFill>
        <p:spPr>
          <a:xfrm>
            <a:off x="10918982" y="0"/>
            <a:ext cx="1273018" cy="1248669"/>
          </a:xfrm>
          <a:prstGeom prst="rect">
            <a:avLst/>
          </a:prstGeom>
        </p:spPr>
      </p:pic>
      <p:sp>
        <p:nvSpPr>
          <p:cNvPr id="5" name="Title 1">
            <a:extLst>
              <a:ext uri="{FF2B5EF4-FFF2-40B4-BE49-F238E27FC236}">
                <a16:creationId xmlns:a16="http://schemas.microsoft.com/office/drawing/2014/main" id="{C85DF0C8-4854-4175-86D5-79091FE7C6CA}"/>
              </a:ext>
            </a:extLst>
          </p:cNvPr>
          <p:cNvSpPr>
            <a:spLocks noGrp="1"/>
          </p:cNvSpPr>
          <p:nvPr>
            <p:ph type="title"/>
          </p:nvPr>
        </p:nvSpPr>
        <p:spPr>
          <a:xfrm>
            <a:off x="2230438" y="965200"/>
            <a:ext cx="7731125" cy="1187450"/>
          </a:xfrm>
        </p:spPr>
        <p:txBody>
          <a:bodyPr/>
          <a:lstStyle/>
          <a:p>
            <a:r>
              <a:rPr lang="en-US" b="1" cap="none" dirty="0">
                <a:latin typeface="Times New Roman" panose="02020603050405020304" pitchFamily="18" charset="0"/>
                <a:cs typeface="Times New Roman" panose="02020603050405020304" pitchFamily="18" charset="0"/>
              </a:rPr>
              <a:t>Cont..</a:t>
            </a:r>
          </a:p>
        </p:txBody>
      </p:sp>
      <p:sp>
        <p:nvSpPr>
          <p:cNvPr id="6" name="Date Placeholder 5">
            <a:extLst>
              <a:ext uri="{FF2B5EF4-FFF2-40B4-BE49-F238E27FC236}">
                <a16:creationId xmlns:a16="http://schemas.microsoft.com/office/drawing/2014/main" id="{6FB7FAF3-728A-4125-8BC9-35851EAF6F1D}"/>
              </a:ext>
            </a:extLst>
          </p:cNvPr>
          <p:cNvSpPr>
            <a:spLocks noGrp="1"/>
          </p:cNvSpPr>
          <p:nvPr>
            <p:ph type="dt" sz="half" idx="10"/>
          </p:nvPr>
        </p:nvSpPr>
        <p:spPr/>
        <p:txBody>
          <a:bodyPr/>
          <a:lstStyle/>
          <a:p>
            <a:fld id="{D5595862-EB0F-4AA5-8477-BC8C1108EB3C}" type="datetime1">
              <a:rPr lang="en-US" smtClean="0"/>
              <a:t>2/22/2026</a:t>
            </a:fld>
            <a:endParaRPr lang="en-US" dirty="0"/>
          </a:p>
        </p:txBody>
      </p:sp>
      <p:sp>
        <p:nvSpPr>
          <p:cNvPr id="7" name="Slide Number Placeholder 6">
            <a:extLst>
              <a:ext uri="{FF2B5EF4-FFF2-40B4-BE49-F238E27FC236}">
                <a16:creationId xmlns:a16="http://schemas.microsoft.com/office/drawing/2014/main" id="{7A3B8F8B-AD27-4E74-BCDD-976BFC018FDF}"/>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4213491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709123-288D-4DF5-A3F1-612DA5E3BA3D}"/>
              </a:ext>
            </a:extLst>
          </p:cNvPr>
          <p:cNvSpPr>
            <a:spLocks noGrp="1"/>
          </p:cNvSpPr>
          <p:nvPr>
            <p:ph idx="1"/>
          </p:nvPr>
        </p:nvSpPr>
        <p:spPr>
          <a:xfrm>
            <a:off x="1752573" y="2466111"/>
            <a:ext cx="5963317" cy="3263206"/>
          </a:xfrm>
        </p:spPr>
        <p:txBody>
          <a:bodyPr>
            <a:normAutofit/>
          </a:bodyPr>
          <a:lstStyle/>
          <a:p>
            <a:pPr marL="0" indent="0">
              <a:buNone/>
            </a:pPr>
            <a:r>
              <a:rPr lang="en-US" sz="4400" b="1" dirty="0">
                <a:latin typeface="Times New Roman" panose="02020603050405020304" pitchFamily="18" charset="0"/>
                <a:cs typeface="Times New Roman" panose="02020603050405020304" pitchFamily="18" charset="0"/>
              </a:rPr>
              <a:t>THANK YOU</a:t>
            </a:r>
          </a:p>
        </p:txBody>
      </p:sp>
      <p:sp>
        <p:nvSpPr>
          <p:cNvPr id="10" name="Rectangle 9">
            <a:extLst>
              <a:ext uri="{FF2B5EF4-FFF2-40B4-BE49-F238E27FC236}">
                <a16:creationId xmlns:a16="http://schemas.microsoft.com/office/drawing/2014/main" id="{879398A9-0D0D-4901-BDDF-B3D93CECA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6706" y="964692"/>
            <a:ext cx="398678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11FEC3B-E514-4E21-B2CB-7903A7356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1298" y="1128683"/>
            <a:ext cx="3657600"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7BFA239D-B0A6-48F3-9836-16E0A17E62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15890" y="1768763"/>
            <a:ext cx="3328416" cy="3328416"/>
          </a:xfrm>
          <a:prstGeom prst="rect">
            <a:avLst/>
          </a:prstGeom>
        </p:spPr>
      </p:pic>
      <p:sp>
        <p:nvSpPr>
          <p:cNvPr id="4" name="Date Placeholder 3">
            <a:extLst>
              <a:ext uri="{FF2B5EF4-FFF2-40B4-BE49-F238E27FC236}">
                <a16:creationId xmlns:a16="http://schemas.microsoft.com/office/drawing/2014/main" id="{0768F8A0-8696-4E6E-A7E9-83500729EE76}"/>
              </a:ext>
            </a:extLst>
          </p:cNvPr>
          <p:cNvSpPr>
            <a:spLocks noGrp="1"/>
          </p:cNvSpPr>
          <p:nvPr>
            <p:ph type="dt" sz="half" idx="10"/>
          </p:nvPr>
        </p:nvSpPr>
        <p:spPr/>
        <p:txBody>
          <a:bodyPr/>
          <a:lstStyle/>
          <a:p>
            <a:fld id="{AE61F320-A329-47C0-B71D-E3E3BB41D41A}" type="datetime1">
              <a:rPr lang="en-US" smtClean="0"/>
              <a:t>2/22/2026</a:t>
            </a:fld>
            <a:endParaRPr lang="en-US" dirty="0"/>
          </a:p>
        </p:txBody>
      </p:sp>
      <p:sp>
        <p:nvSpPr>
          <p:cNvPr id="5" name="Slide Number Placeholder 4">
            <a:extLst>
              <a:ext uri="{FF2B5EF4-FFF2-40B4-BE49-F238E27FC236}">
                <a16:creationId xmlns:a16="http://schemas.microsoft.com/office/drawing/2014/main" id="{412883B6-8015-476A-8F99-8EA8942A5BFE}"/>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35230560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98</TotalTime>
  <Words>1434</Words>
  <Application>Microsoft Office PowerPoint</Application>
  <PresentationFormat>Widescreen</PresentationFormat>
  <Paragraphs>155</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Cambria</vt:lpstr>
      <vt:lpstr>Courier New</vt:lpstr>
      <vt:lpstr>Gill Sans MT</vt:lpstr>
      <vt:lpstr>Times New Roman</vt:lpstr>
      <vt:lpstr>Wingdings</vt:lpstr>
      <vt:lpstr>Parcel</vt:lpstr>
      <vt:lpstr>System Call </vt:lpstr>
      <vt:lpstr> What is a system call? </vt:lpstr>
      <vt:lpstr>Cont..</vt:lpstr>
      <vt:lpstr>Cont..</vt:lpstr>
      <vt:lpstr>Cont..</vt:lpstr>
      <vt:lpstr> Why do you need system calls in operating system? </vt:lpstr>
      <vt:lpstr> How system calls work </vt:lpstr>
      <vt:lpstr>Cont..</vt:lpstr>
      <vt:lpstr>Example of system calls</vt:lpstr>
      <vt:lpstr>System call implementation</vt:lpstr>
      <vt:lpstr>Cont..</vt:lpstr>
      <vt:lpstr>System call parameter passing</vt:lpstr>
      <vt:lpstr>Cont..</vt:lpstr>
      <vt:lpstr>Parameter passing via table</vt:lpstr>
      <vt:lpstr>Types of System Calls </vt:lpstr>
      <vt:lpstr>Types of system calls(cont..) </vt:lpstr>
      <vt:lpstr>Sample of system calls</vt:lpstr>
      <vt:lpstr>Cont..</vt:lpstr>
      <vt:lpstr>Methods </vt:lpstr>
      <vt:lpstr>Cont..</vt:lpstr>
      <vt:lpstr>Cont..</vt:lpstr>
      <vt:lpstr>Cont..</vt:lpstr>
      <vt:lpstr>Cont..</vt:lpstr>
      <vt:lpstr>Cont..</vt:lpstr>
      <vt:lpstr>Cont..</vt:lpstr>
      <vt:lpstr>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Call </dc:title>
  <dc:creator>Nazneen  Akhter</dc:creator>
  <cp:lastModifiedBy>Nazneen  Akhter</cp:lastModifiedBy>
  <cp:revision>15</cp:revision>
  <dcterms:created xsi:type="dcterms:W3CDTF">2022-02-26T05:13:56Z</dcterms:created>
  <dcterms:modified xsi:type="dcterms:W3CDTF">2026-02-22T04:43:53Z</dcterms:modified>
</cp:coreProperties>
</file>